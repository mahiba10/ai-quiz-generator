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e27782d3-f6a4-bcf4-4822-013b606bbba5}">
          <p14:sldIdLst>
            <p14:sldId id="256"/>
            <p14:sldId id="257"/>
            <p14:sldId id="258"/>
            <p14:sldId id="259"/>
          </p14:sldIdLst>
        </p14:section>
        <p14:section name="Approach" id="{4801bfd1-d900-2082-9a35-8d9306a3b2b8}">
          <p14:sldIdLst>
            <p14:sldId id="260"/>
            <p14:sldId id="261"/>
            <p14:sldId id="262"/>
            <p14:sldId id="263"/>
            <p14:sldId id="264"/>
          </p14:sldIdLst>
        </p14:section>
        <p14:section name="Results and Wrap-up" id="{18f591f1-2e49-d0f1-f40e-779c515584eb}">
          <p14:sldIdLst>
            <p14:sldId id="265"/>
            <p14:sldId id="266"/>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Hello, I'm [your name]. My project is an AI-powered quiz generator and learning assistant. It helps students practise multiple-choice questions, see what they got wrong, and know what to revise next. It supports UN Sustainable Development Goal 4, Quality Education, and I built it for the AICTE–IBM SkillsBuild Machine Learning and Applied AI internship.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Think of a normal exam-preparation situation. A student reads a chapter but cannot tell if they truly understand it. Feedback from tests comes late, and revision ends up being everything instead of the weak spots. That is the gap this project tries to fill.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SDG 4 is about inclusive and equitable quality education. This project contributes in a small way by offering free self-assessment with immediate explanations. I do not claim it solves education problems, only that it makes practice easier and more focused.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set four objectives: topic-wise practice, instant feedback, smart revision suggestions, and one genuine machine learning component. For each objective I can point to a feature in the 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journey: the student starts on the home page, chooses topic, difficulty and number of questions, answers one question at a time, sees results with explanations, and gets revision suggestions. The Topic Finder is the machine learning feature: type a learning query, get a suggested topic.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diagram from top to bottom. Data files feed three separate parts. The quiz logic and recommendation logic are ordinary code. The ML model is the only part that learns from data. The Streamlit app brings them together. Stress that the ML model is kept separate from scoring.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two datasets. The question bank has 75 multiple-choice questions, 5 for each topic and difficulty, each with a concept tag and an explanation. The classifier dataset has 140 short learning queries, 28 per topic. Be honest that this dataset is small and written by me, so it does not cover every way students phrase things.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text goes through TF-IDF, which turns words into numbers, then a linear classifier predicts the topic. I compared Naive Bayes and Logistic Regression using cross-validation on the training data only, then tested the chosen model once on unseen data. A Pipeline keeps TF-IDF fitted on training text only, which avoids data leakage. If the text has no known words or the confidence is low, the app says it is unsure instead of guessing.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main features. If you can, do a short live demo: choose a topic, answer a few questions, submit, and show the results and recommendations. Then show the Topic Finder with one example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numbers from the file models/metrics.json after you run the training script yourself, and update this slide if they differ. Say clearly that the test set has only 28 sentences, so the numbers can change with a different split or more data. Also mention that the classifier sometimes gives low confidence on short queries such as 'What is a stack data structure?'.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Replace each dashed box with a real screenshot from your running app. Do not use mock-ups. Delete the placeholder labels once the real images are in place. Walk through each screenshot briefly and point out what it shows.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Summarise: the app works end to end, scores are calculated from real answers, and the ML part is evaluated honestly. Mention the limitations openly, then the future scope. Thank the audience and invite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365760"/>
            <a:ext cx="10881360" cy="822960"/>
          </a:xfrm>
          <a:prstGeom prst="rect">
            <a:avLst/>
          </a:prstGeom>
          <a:noFill/>
          <a:ln/>
        </p:spPr>
        <p:txBody>
          <a:bodyPr wrap="square" rtlCol="0"/>
          <a:lstStyle>
            <a:lvl1pPr algn="l" indent="0" marL="0">
              <a:buNone/>
              <a:defRPr lang="en-US" sz="3600" b="1" dirty="0">
                <a:solidFill>
                  <a:schemeClr val="tx1"/>
                </a:solidFill>
              </a:defRPr>
            </a:lvl1pPr>
          </a:lstStyle>
          <a:p>
            <a:pPr algn="l" indent="0" marL="0">
              <a:buNone/>
            </a:pPr>
            <a:endParaRPr lang="en-US" sz="36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l"/>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TITLE">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822960" y="2011680"/>
            <a:ext cx="8686800" cy="182880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3" name="Text 0"/>
          <p:cNvSpPr/>
          <p:nvPr>
            <p:ph idx="101" type="body" hasCustomPrompt="1"/>
          </p:nvPr>
        </p:nvSpPr>
        <p:spPr>
          <a:xfrm>
            <a:off x="822960" y="4114800"/>
            <a:ext cx="8686800" cy="1188720"/>
          </a:xfrm>
          <a:prstGeom prst="rect">
            <a:avLst/>
          </a:prstGeom>
          <a:noFill/>
          <a:ln/>
        </p:spPr>
        <p:txBody>
          <a:bodyPr wrap="square" rtlCol="0"/>
          <a:lstStyle>
            <a:lvl1pPr algn="l" indent="0" marL="0">
              <a:buNone/>
              <a:defRPr lang="en-US" sz="2000" dirty="0">
                <a:solidFill>
                  <a:schemeClr val="bg2"/>
                </a:solidFill>
              </a:defRPr>
            </a:lvl1pPr>
          </a:lstStyle>
          <a:p>
            <a:pPr algn="l" indent="0" marL="0">
              <a:buNone/>
            </a:pPr>
            <a:endParaRPr lang="en-US" sz="20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CONTENT">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365760"/>
            <a:ext cx="10881360" cy="82296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bg2"/>
                </a:solidFill>
              </a:defRPr>
            </a:lvl1pPr>
          </a:lstStyle>
          <a:p>
            <a:pPr algn="l"/>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822960" y="2011680"/>
            <a:ext cx="8686800" cy="1828800"/>
          </a:xfrm>
          <a:prstGeom prst="rect">
            <a:avLst/>
          </a:prstGeom>
          <a:noFill/>
          <a:ln/>
        </p:spPr>
        <p:txBody>
          <a:bodyPr wrap="square" lIns="0" tIns="0" rIns="0" bIns="0" rtlCol="0" anchor="t"/>
          <a:lstStyle/>
          <a:p>
            <a:pPr algn="l" indent="0" marL="0">
              <a:buNone/>
            </a:pPr>
            <a:r>
              <a:rPr lang="en-US" sz="4400" b="1" dirty="0">
                <a:solidFill>
                  <a:schemeClr val="bg1"/>
                </a:solidFill>
              </a:rPr>
              <a:t>AI-Powered Quiz Generator and Personalized Learning Assistant</a:t>
            </a:r>
            <a:endParaRPr lang="en-US" sz="4400" dirty="0"/>
          </a:p>
        </p:txBody>
      </p:sp>
      <p:sp>
        <p:nvSpPr>
          <p:cNvPr id="3" name="Text 0"/>
          <p:cNvSpPr/>
          <p:nvPr>
            <p:ph idx="101" type="body" hasCustomPrompt="1"/>
          </p:nvPr>
        </p:nvSpPr>
        <p:spPr>
          <a:xfrm>
            <a:off x="822960" y="4114800"/>
            <a:ext cx="8686800" cy="1188720"/>
          </a:xfrm>
          <a:prstGeom prst="rect">
            <a:avLst/>
          </a:prstGeom>
          <a:noFill/>
          <a:ln/>
        </p:spPr>
        <p:txBody>
          <a:bodyPr wrap="square" lIns="0" tIns="0" rIns="0" bIns="0" rtlCol="0" anchor="t"/>
          <a:lstStyle/>
          <a:p>
            <a:pPr algn="l" indent="0" marL="0">
              <a:buNone/>
            </a:pPr>
            <a:r>
              <a:rPr lang="en-US" sz="2000" dirty="0">
                <a:solidFill>
                  <a:schemeClr val="bg2"/>
                </a:solidFill>
              </a:rPr>
              <a:t>[Your Name]  ·  [Your College]</a:t>
            </a:r>
            <a:endParaRPr lang="en-US" sz="2000" dirty="0"/>
          </a:p>
          <a:p>
            <a:pPr algn="l" indent="0" marL="0">
              <a:buNone/>
            </a:pPr>
            <a:r>
              <a:rPr lang="en-US" sz="2000" dirty="0">
                <a:solidFill>
                  <a:schemeClr val="bg2"/>
                </a:solidFill>
              </a:rPr>
              <a:t>AICTE–IBM SkillsBuild Machine Learning and Applied AI Internship</a:t>
            </a:r>
            <a:endParaRPr lang="en-US" sz="2000" dirty="0"/>
          </a:p>
        </p:txBody>
      </p:sp>
      <p:sp>
        <p:nvSpPr>
          <p:cNvPr id="4" name="SDG pill"/>
          <p:cNvSpPr/>
          <p:nvPr/>
        </p:nvSpPr>
        <p:spPr>
          <a:xfrm>
            <a:off x="822960" y="1097280"/>
            <a:ext cx="3291840" cy="548640"/>
          </a:xfrm>
          <a:prstGeom prst="roundRect">
            <a:avLst>
              <a:gd name="adj" fmla="val 50000"/>
            </a:avLst>
          </a:prstGeom>
          <a:solidFill>
            <a:schemeClr val="accent3"/>
          </a:solidFill>
          <a:ln w="6350">
            <a:solidFill>
              <a:schemeClr val="accent3"/>
            </a:solidFill>
            <a:prstDash val="solid"/>
          </a:ln>
        </p:spPr>
      </p:sp>
      <p:sp>
        <p:nvSpPr>
          <p:cNvPr id="5" name="Text 3"/>
          <p:cNvSpPr txBox="1"/>
          <p:nvPr/>
        </p:nvSpPr>
        <p:spPr>
          <a:xfrm>
            <a:off x="822960" y="1097280"/>
            <a:ext cx="3291840" cy="548640"/>
          </a:xfrm>
          <a:prstGeom prst="rect">
            <a:avLst/>
          </a:prstGeom>
          <a:noFill/>
          <a:ln/>
        </p:spPr>
        <p:txBody>
          <a:bodyPr wrap="square" lIns="0" tIns="0" rIns="0" bIns="0" rtlCol="0" anchor="ctr"/>
          <a:lstStyle/>
          <a:p>
            <a:pPr algn="ctr" indent="0" marL="0">
              <a:buNone/>
            </a:pPr>
            <a:r>
              <a:rPr lang="en-US" sz="1600" b="1" dirty="0">
                <a:solidFill>
                  <a:schemeClr val="tx1"/>
                </a:solidFill>
              </a:rPr>
              <a:t>SDG 4 · Quality Education</a:t>
            </a:r>
            <a:endParaRPr lang="en-US" sz="1600" dirty="0"/>
          </a:p>
        </p:txBody>
      </p:sp>
      <p:sp>
        <p:nvSpPr>
          <p:cNvPr id="6" name="Motif large"/>
          <p:cNvSpPr/>
          <p:nvPr/>
        </p:nvSpPr>
        <p:spPr>
          <a:xfrm>
            <a:off x="9692640" y="1463040"/>
            <a:ext cx="2194560" cy="2194560"/>
          </a:xfrm>
          <a:prstGeom prst="ellipse">
            <a:avLst/>
          </a:prstGeom>
          <a:solidFill>
            <a:schemeClr val="accent1"/>
          </a:solidFill>
          <a:ln w="6350">
            <a:solidFill>
              <a:schemeClr val="accent1"/>
            </a:solidFill>
            <a:prstDash val="solid"/>
          </a:ln>
        </p:spPr>
      </p:sp>
      <p:sp>
        <p:nvSpPr>
          <p:cNvPr id="7" name="Motif small"/>
          <p:cNvSpPr/>
          <p:nvPr/>
        </p:nvSpPr>
        <p:spPr>
          <a:xfrm>
            <a:off x="10515600" y="3291840"/>
            <a:ext cx="1280160" cy="1280160"/>
          </a:xfrm>
          <a:prstGeom prst="ellipse">
            <a:avLst/>
          </a:prstGeom>
          <a:solidFill>
            <a:schemeClr val="accent2"/>
          </a:solidFill>
          <a:ln w="6350">
            <a:solidFill>
              <a:schemeClr val="accent2"/>
            </a:solidFill>
            <a:prstDash val="solid"/>
          </a:ln>
        </p:spPr>
      </p:sp>
      <p:sp>
        <p:nvSpPr>
          <p:cNvPr id="8" name="Text 6"/>
          <p:cNvSpPr txBox="1"/>
          <p:nvPr/>
        </p:nvSpPr>
        <p:spPr>
          <a:xfrm>
            <a:off x="9692640" y="1463040"/>
            <a:ext cx="2194560" cy="2194560"/>
          </a:xfrm>
          <a:prstGeom prst="rect">
            <a:avLst/>
          </a:prstGeom>
          <a:noFill/>
          <a:ln/>
        </p:spPr>
        <p:txBody>
          <a:bodyPr wrap="square" lIns="0" tIns="0" rIns="0" bIns="0" rtlCol="0" anchor="ctr"/>
          <a:lstStyle/>
          <a:p>
            <a:pPr algn="ctr" indent="0" marL="0">
              <a:buNone/>
            </a:pPr>
            <a:r>
              <a:rPr lang="en-US" sz="9600" b="1" dirty="0">
                <a:solidFill>
                  <a:schemeClr val="bg1"/>
                </a:solidFill>
              </a:rPr>
              <a:t>?</a:t>
            </a:r>
            <a:endParaRPr lang="en-US" sz="9600" dirty="0"/>
          </a:p>
        </p:txBody>
      </p:sp>
      <p:sp>
        <p:nvSpPr>
          <p:cNvPr id="9" name="Text 7"/>
          <p:cNvSpPr txBox="1"/>
          <p:nvPr/>
        </p:nvSpPr>
        <p:spPr>
          <a:xfrm>
            <a:off x="10515600" y="3291840"/>
            <a:ext cx="1280160" cy="1280160"/>
          </a:xfrm>
          <a:prstGeom prst="rect">
            <a:avLst/>
          </a:prstGeom>
          <a:noFill/>
          <a:ln/>
        </p:spPr>
        <p:txBody>
          <a:bodyPr wrap="square" lIns="0" tIns="0" rIns="0" bIns="0" rtlCol="0" anchor="ctr"/>
          <a:lstStyle/>
          <a:p>
            <a:pPr algn="ctr" indent="0" marL="0">
              <a:buNone/>
            </a:pPr>
            <a:r>
              <a:rPr lang="en-US" sz="5400" b="1" dirty="0">
                <a:solidFill>
                  <a:schemeClr val="bg1"/>
                </a:solidFill>
              </a:rPr>
              <a:t>✓</a:t>
            </a:r>
            <a:endParaRPr lang="en-US" sz="5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640080" y="365760"/>
            <a:ext cx="10881360" cy="822960"/>
          </a:xfrm>
          <a:prstGeom prst="rect">
            <a:avLst/>
          </a:prstGeom>
          <a:noFill/>
          <a:ln/>
        </p:spPr>
        <p:txBody>
          <a:bodyPr wrap="square" lIns="0" tIns="0" rIns="0" bIns="0" rtlCol="0" anchor="ctr"/>
          <a:lstStyle/>
          <a:p>
            <a:pPr algn="l" indent="0" marL="0">
              <a:buNone/>
            </a:pPr>
            <a:r>
              <a:rPr lang="en-US" sz="3600" b="1" dirty="0">
                <a:solidFill>
                  <a:schemeClr val="tx1"/>
                </a:solidFill>
              </a:rPr>
              <a:t>Problem Statement</a:t>
            </a:r>
            <a:endParaRPr lang="en-US" sz="3600" dirty="0"/>
          </a:p>
        </p:txBody>
      </p:sp>
      <p:sp>
        <p:nvSpPr>
          <p:cNvPr id="3" name="Problem card 1"/>
          <p:cNvSpPr/>
          <p:nvPr/>
        </p:nvSpPr>
        <p:spPr>
          <a:xfrm>
            <a:off x="640080" y="1645920"/>
            <a:ext cx="3474720" cy="3383280"/>
          </a:xfrm>
          <a:prstGeom prst="roundRect">
            <a:avLst>
              <a:gd name="adj" fmla="val 3243"/>
            </a:avLst>
          </a:prstGeom>
          <a:solidFill>
            <a:schemeClr val="bg2"/>
          </a:solidFill>
          <a:ln w="6350">
            <a:solidFill>
              <a:schemeClr val="bg2"/>
            </a:solidFill>
            <a:prstDash val="solid"/>
          </a:ln>
        </p:spPr>
      </p:sp>
      <p:sp>
        <p:nvSpPr>
          <p:cNvPr id="4" name="Badge 1"/>
          <p:cNvSpPr/>
          <p:nvPr/>
        </p:nvSpPr>
        <p:spPr>
          <a:xfrm>
            <a:off x="914400" y="1920240"/>
            <a:ext cx="548640" cy="548640"/>
          </a:xfrm>
          <a:prstGeom prst="ellipse">
            <a:avLst/>
          </a:prstGeom>
          <a:solidFill>
            <a:schemeClr val="accent1"/>
          </a:solidFill>
          <a:ln w="6350">
            <a:solidFill>
              <a:schemeClr val="accent1"/>
            </a:solidFill>
            <a:prstDash val="solid"/>
          </a:ln>
        </p:spPr>
      </p:sp>
      <p:sp>
        <p:nvSpPr>
          <p:cNvPr id="5" name="Text 3"/>
          <p:cNvSpPr txBox="1"/>
          <p:nvPr/>
        </p:nvSpPr>
        <p:spPr>
          <a:xfrm>
            <a:off x="914400" y="192024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6" name="Text 4"/>
          <p:cNvSpPr txBox="1"/>
          <p:nvPr/>
        </p:nvSpPr>
        <p:spPr>
          <a:xfrm>
            <a:off x="914400" y="2743200"/>
            <a:ext cx="2926080" cy="457200"/>
          </a:xfrm>
          <a:prstGeom prst="rect">
            <a:avLst/>
          </a:prstGeom>
          <a:noFill/>
          <a:ln/>
        </p:spPr>
        <p:txBody>
          <a:bodyPr wrap="square" lIns="0" tIns="0" rIns="0" bIns="0" rtlCol="0" anchor="t"/>
          <a:lstStyle/>
          <a:p>
            <a:pPr indent="0" marL="0">
              <a:buNone/>
            </a:pPr>
            <a:r>
              <a:rPr lang="en-US" sz="2200" b="1" dirty="0">
                <a:solidFill>
                  <a:schemeClr val="tx1"/>
                </a:solidFill>
              </a:rPr>
              <a:t>Hard to self-assess</a:t>
            </a:r>
            <a:endParaRPr lang="en-US" sz="2200" dirty="0"/>
          </a:p>
        </p:txBody>
      </p:sp>
      <p:sp>
        <p:nvSpPr>
          <p:cNvPr id="7" name="Text 5"/>
          <p:cNvSpPr txBox="1"/>
          <p:nvPr/>
        </p:nvSpPr>
        <p:spPr>
          <a:xfrm>
            <a:off x="914400" y="3337560"/>
            <a:ext cx="2926080" cy="1463040"/>
          </a:xfrm>
          <a:prstGeom prst="rect">
            <a:avLst/>
          </a:prstGeom>
          <a:noFill/>
          <a:ln/>
        </p:spPr>
        <p:txBody>
          <a:bodyPr wrap="square" lIns="0" tIns="0" rIns="0" bIns="0" rtlCol="0" anchor="t"/>
          <a:lstStyle/>
          <a:p>
            <a:pPr indent="0" marL="0">
              <a:buNone/>
            </a:pPr>
            <a:r>
              <a:rPr lang="en-US" sz="1600" dirty="0">
                <a:solidFill>
                  <a:schemeClr val="tx1"/>
                </a:solidFill>
              </a:rPr>
              <a:t>Students often cannot tell how well they really understand a topic.</a:t>
            </a:r>
            <a:endParaRPr lang="en-US" sz="1600" dirty="0"/>
          </a:p>
        </p:txBody>
      </p:sp>
      <p:sp>
        <p:nvSpPr>
          <p:cNvPr id="8" name="Problem card 2"/>
          <p:cNvSpPr/>
          <p:nvPr/>
        </p:nvSpPr>
        <p:spPr>
          <a:xfrm>
            <a:off x="4434840" y="1645920"/>
            <a:ext cx="3474720" cy="3383280"/>
          </a:xfrm>
          <a:prstGeom prst="roundRect">
            <a:avLst>
              <a:gd name="adj" fmla="val 3243"/>
            </a:avLst>
          </a:prstGeom>
          <a:solidFill>
            <a:schemeClr val="bg2"/>
          </a:solidFill>
          <a:ln w="6350">
            <a:solidFill>
              <a:schemeClr val="bg2"/>
            </a:solidFill>
            <a:prstDash val="solid"/>
          </a:ln>
        </p:spPr>
      </p:sp>
      <p:sp>
        <p:nvSpPr>
          <p:cNvPr id="9" name="Badge 2"/>
          <p:cNvSpPr/>
          <p:nvPr/>
        </p:nvSpPr>
        <p:spPr>
          <a:xfrm>
            <a:off x="4709160" y="1920240"/>
            <a:ext cx="548640" cy="548640"/>
          </a:xfrm>
          <a:prstGeom prst="ellipse">
            <a:avLst/>
          </a:prstGeom>
          <a:solidFill>
            <a:schemeClr val="accent1"/>
          </a:solidFill>
          <a:ln w="6350">
            <a:solidFill>
              <a:schemeClr val="accent1"/>
            </a:solidFill>
            <a:prstDash val="solid"/>
          </a:ln>
        </p:spPr>
      </p:sp>
      <p:sp>
        <p:nvSpPr>
          <p:cNvPr id="10" name="Text 8"/>
          <p:cNvSpPr txBox="1"/>
          <p:nvPr/>
        </p:nvSpPr>
        <p:spPr>
          <a:xfrm>
            <a:off x="4709160" y="192024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1" name="Text 9"/>
          <p:cNvSpPr txBox="1"/>
          <p:nvPr/>
        </p:nvSpPr>
        <p:spPr>
          <a:xfrm>
            <a:off x="4709160" y="2743200"/>
            <a:ext cx="2926080" cy="457200"/>
          </a:xfrm>
          <a:prstGeom prst="rect">
            <a:avLst/>
          </a:prstGeom>
          <a:noFill/>
          <a:ln/>
        </p:spPr>
        <p:txBody>
          <a:bodyPr wrap="square" lIns="0" tIns="0" rIns="0" bIns="0" rtlCol="0" anchor="t"/>
          <a:lstStyle/>
          <a:p>
            <a:pPr indent="0" marL="0">
              <a:buNone/>
            </a:pPr>
            <a:r>
              <a:rPr lang="en-US" sz="2200" b="1" dirty="0">
                <a:solidFill>
                  <a:schemeClr val="tx1"/>
                </a:solidFill>
              </a:rPr>
              <a:t>Slow feedback</a:t>
            </a:r>
            <a:endParaRPr lang="en-US" sz="2200" dirty="0"/>
          </a:p>
        </p:txBody>
      </p:sp>
      <p:sp>
        <p:nvSpPr>
          <p:cNvPr id="12" name="Text 10"/>
          <p:cNvSpPr txBox="1"/>
          <p:nvPr/>
        </p:nvSpPr>
        <p:spPr>
          <a:xfrm>
            <a:off x="4709160" y="3337560"/>
            <a:ext cx="2926080" cy="1463040"/>
          </a:xfrm>
          <a:prstGeom prst="rect">
            <a:avLst/>
          </a:prstGeom>
          <a:noFill/>
          <a:ln/>
        </p:spPr>
        <p:txBody>
          <a:bodyPr wrap="square" lIns="0" tIns="0" rIns="0" bIns="0" rtlCol="0" anchor="t"/>
          <a:lstStyle/>
          <a:p>
            <a:pPr indent="0" marL="0">
              <a:buNone/>
            </a:pPr>
            <a:r>
              <a:rPr lang="en-US" sz="1600" dirty="0">
                <a:solidFill>
                  <a:schemeClr val="tx1"/>
                </a:solidFill>
              </a:rPr>
              <a:t>Class tests and assignments return results days or weeks later.</a:t>
            </a:r>
            <a:endParaRPr lang="en-US" sz="1600" dirty="0"/>
          </a:p>
        </p:txBody>
      </p:sp>
      <p:sp>
        <p:nvSpPr>
          <p:cNvPr id="13" name="Problem card 3"/>
          <p:cNvSpPr/>
          <p:nvPr/>
        </p:nvSpPr>
        <p:spPr>
          <a:xfrm>
            <a:off x="8229600" y="1645920"/>
            <a:ext cx="3474720" cy="3383280"/>
          </a:xfrm>
          <a:prstGeom prst="roundRect">
            <a:avLst>
              <a:gd name="adj" fmla="val 3243"/>
            </a:avLst>
          </a:prstGeom>
          <a:solidFill>
            <a:schemeClr val="bg2"/>
          </a:solidFill>
          <a:ln w="6350">
            <a:solidFill>
              <a:schemeClr val="bg2"/>
            </a:solidFill>
            <a:prstDash val="solid"/>
          </a:ln>
        </p:spPr>
      </p:sp>
      <p:sp>
        <p:nvSpPr>
          <p:cNvPr id="14" name="Badge 3"/>
          <p:cNvSpPr/>
          <p:nvPr/>
        </p:nvSpPr>
        <p:spPr>
          <a:xfrm>
            <a:off x="8503920" y="1920240"/>
            <a:ext cx="548640" cy="548640"/>
          </a:xfrm>
          <a:prstGeom prst="ellipse">
            <a:avLst/>
          </a:prstGeom>
          <a:solidFill>
            <a:schemeClr val="accent1"/>
          </a:solidFill>
          <a:ln w="6350">
            <a:solidFill>
              <a:schemeClr val="accent1"/>
            </a:solidFill>
            <a:prstDash val="solid"/>
          </a:ln>
        </p:spPr>
      </p:sp>
      <p:sp>
        <p:nvSpPr>
          <p:cNvPr id="15" name="Text 13"/>
          <p:cNvSpPr txBox="1"/>
          <p:nvPr/>
        </p:nvSpPr>
        <p:spPr>
          <a:xfrm>
            <a:off x="8503920" y="192024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6" name="Text 14"/>
          <p:cNvSpPr txBox="1"/>
          <p:nvPr/>
        </p:nvSpPr>
        <p:spPr>
          <a:xfrm>
            <a:off x="8503920" y="2743200"/>
            <a:ext cx="2926080" cy="457200"/>
          </a:xfrm>
          <a:prstGeom prst="rect">
            <a:avLst/>
          </a:prstGeom>
          <a:noFill/>
          <a:ln/>
        </p:spPr>
        <p:txBody>
          <a:bodyPr wrap="square" lIns="0" tIns="0" rIns="0" bIns="0" rtlCol="0" anchor="t"/>
          <a:lstStyle/>
          <a:p>
            <a:pPr indent="0" marL="0">
              <a:buNone/>
            </a:pPr>
            <a:r>
              <a:rPr lang="en-US" sz="2200" b="1" dirty="0">
                <a:solidFill>
                  <a:schemeClr val="tx1"/>
                </a:solidFill>
              </a:rPr>
              <a:t>Unfocused revision</a:t>
            </a:r>
            <a:endParaRPr lang="en-US" sz="2200" dirty="0"/>
          </a:p>
        </p:txBody>
      </p:sp>
      <p:sp>
        <p:nvSpPr>
          <p:cNvPr id="17" name="Text 15"/>
          <p:cNvSpPr txBox="1"/>
          <p:nvPr/>
        </p:nvSpPr>
        <p:spPr>
          <a:xfrm>
            <a:off x="8503920" y="3337560"/>
            <a:ext cx="2926080" cy="1463040"/>
          </a:xfrm>
          <a:prstGeom prst="rect">
            <a:avLst/>
          </a:prstGeom>
          <a:noFill/>
          <a:ln/>
        </p:spPr>
        <p:txBody>
          <a:bodyPr wrap="square" lIns="0" tIns="0" rIns="0" bIns="0" rtlCol="0" anchor="t"/>
          <a:lstStyle/>
          <a:p>
            <a:pPr indent="0" marL="0">
              <a:buNone/>
            </a:pPr>
            <a:r>
              <a:rPr lang="en-US" sz="1600" dirty="0">
                <a:solidFill>
                  <a:schemeClr val="tx1"/>
                </a:solidFill>
              </a:rPr>
              <a:t>Without clear gaps, students re-read everything instead of weak areas.</a:t>
            </a:r>
            <a:endParaRPr lang="en-US" sz="1600" dirty="0"/>
          </a:p>
        </p:txBody>
      </p:sp>
      <p:sp>
        <p:nvSpPr>
          <p:cNvPr id="18" name="Text 16"/>
          <p:cNvSpPr txBox="1"/>
          <p:nvPr/>
        </p:nvSpPr>
        <p:spPr>
          <a:xfrm>
            <a:off x="640080" y="5440680"/>
            <a:ext cx="10881360" cy="457200"/>
          </a:xfrm>
          <a:prstGeom prst="rect">
            <a:avLst/>
          </a:prstGeom>
          <a:noFill/>
          <a:ln/>
        </p:spPr>
        <p:txBody>
          <a:bodyPr wrap="square" lIns="0" tIns="0" rIns="0" bIns="0" rtlCol="0" anchor="t"/>
          <a:lstStyle/>
          <a:p>
            <a:pPr indent="0" marL="0">
              <a:buNone/>
            </a:pPr>
            <a:r>
              <a:rPr lang="en-US" sz="2000" i="1" dirty="0">
                <a:solidFill>
                  <a:schemeClr val="accent1"/>
                </a:solidFill>
              </a:rPr>
              <a:t>Result: students do not know what to practise next.</a:t>
            </a:r>
            <a:endParaRPr lang="en-US" sz="20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640080" y="365760"/>
            <a:ext cx="10881360" cy="822960"/>
          </a:xfrm>
          <a:prstGeom prst="rect">
            <a:avLst/>
          </a:prstGeom>
          <a:noFill/>
          <a:ln/>
        </p:spPr>
        <p:txBody>
          <a:bodyPr wrap="square" lIns="0" tIns="0" rIns="0" bIns="0" rtlCol="0" anchor="ctr"/>
          <a:lstStyle/>
          <a:p>
            <a:pPr algn="l" indent="0" marL="0">
              <a:buNone/>
            </a:pPr>
            <a:r>
              <a:rPr lang="en-US" sz="3600" b="1" dirty="0">
                <a:solidFill>
                  <a:schemeClr val="tx1"/>
                </a:solidFill>
              </a:rPr>
              <a:t>Motivation and SDG 4 Alignment</a:t>
            </a:r>
            <a:endParaRPr lang="en-US" sz="3600" dirty="0"/>
          </a:p>
        </p:txBody>
      </p:sp>
      <p:sp>
        <p:nvSpPr>
          <p:cNvPr id="3" name="SDG callout"/>
          <p:cNvSpPr/>
          <p:nvPr/>
        </p:nvSpPr>
        <p:spPr>
          <a:xfrm>
            <a:off x="640080" y="1645920"/>
            <a:ext cx="4206240" cy="4114800"/>
          </a:xfrm>
          <a:prstGeom prst="roundRect">
            <a:avLst>
              <a:gd name="adj" fmla="val 2667"/>
            </a:avLst>
          </a:prstGeom>
          <a:solidFill>
            <a:schemeClr val="tx1"/>
          </a:solidFill>
          <a:ln w="6350">
            <a:solidFill>
              <a:schemeClr val="tx1"/>
            </a:solidFill>
            <a:prstDash val="solid"/>
          </a:ln>
        </p:spPr>
      </p:sp>
      <p:sp>
        <p:nvSpPr>
          <p:cNvPr id="4" name="Text 2"/>
          <p:cNvSpPr txBox="1"/>
          <p:nvPr/>
        </p:nvSpPr>
        <p:spPr>
          <a:xfrm>
            <a:off x="640080" y="2103120"/>
            <a:ext cx="4206240" cy="1188720"/>
          </a:xfrm>
          <a:prstGeom prst="rect">
            <a:avLst/>
          </a:prstGeom>
          <a:noFill/>
          <a:ln/>
        </p:spPr>
        <p:txBody>
          <a:bodyPr wrap="square" lIns="0" tIns="0" rIns="0" bIns="0" rtlCol="0" anchor="t"/>
          <a:lstStyle/>
          <a:p>
            <a:pPr algn="ctr" indent="0" marL="0">
              <a:buNone/>
            </a:pPr>
            <a:r>
              <a:rPr lang="en-US" sz="6600" b="1" dirty="0">
                <a:solidFill>
                  <a:schemeClr val="accent3"/>
                </a:solidFill>
              </a:rPr>
              <a:t>SDG 4</a:t>
            </a:r>
            <a:endParaRPr lang="en-US" sz="6600" dirty="0"/>
          </a:p>
        </p:txBody>
      </p:sp>
      <p:sp>
        <p:nvSpPr>
          <p:cNvPr id="5" name="Text 3"/>
          <p:cNvSpPr txBox="1"/>
          <p:nvPr/>
        </p:nvSpPr>
        <p:spPr>
          <a:xfrm>
            <a:off x="640080" y="3383280"/>
            <a:ext cx="4206240" cy="548640"/>
          </a:xfrm>
          <a:prstGeom prst="rect">
            <a:avLst/>
          </a:prstGeom>
          <a:noFill/>
          <a:ln/>
        </p:spPr>
        <p:txBody>
          <a:bodyPr wrap="square" lIns="0" tIns="0" rIns="0" bIns="0" rtlCol="0" anchor="t"/>
          <a:lstStyle/>
          <a:p>
            <a:pPr algn="ctr" indent="0" marL="0">
              <a:buNone/>
            </a:pPr>
            <a:r>
              <a:rPr lang="en-US" sz="2400" b="1" dirty="0">
                <a:solidFill>
                  <a:schemeClr val="bg1"/>
                </a:solidFill>
              </a:rPr>
              <a:t>Quality Education</a:t>
            </a:r>
            <a:endParaRPr lang="en-US" sz="2400" dirty="0"/>
          </a:p>
        </p:txBody>
      </p:sp>
      <p:sp>
        <p:nvSpPr>
          <p:cNvPr id="6" name="Text 4"/>
          <p:cNvSpPr txBox="1"/>
          <p:nvPr/>
        </p:nvSpPr>
        <p:spPr>
          <a:xfrm>
            <a:off x="1005840" y="4114800"/>
            <a:ext cx="3474720" cy="1097280"/>
          </a:xfrm>
          <a:prstGeom prst="rect">
            <a:avLst/>
          </a:prstGeom>
          <a:noFill/>
          <a:ln/>
        </p:spPr>
        <p:txBody>
          <a:bodyPr wrap="square" lIns="0" tIns="0" rIns="0" bIns="0" rtlCol="0" anchor="t"/>
          <a:lstStyle/>
          <a:p>
            <a:pPr algn="ctr" indent="0" marL="0">
              <a:buNone/>
            </a:pPr>
            <a:r>
              <a:rPr lang="en-US" sz="1600" dirty="0">
                <a:solidFill>
                  <a:schemeClr val="bg2"/>
                </a:solidFill>
              </a:rPr>
              <a:t>Inclusive and equitable quality education for all</a:t>
            </a:r>
            <a:endParaRPr lang="en-US" sz="1600" dirty="0"/>
          </a:p>
        </p:txBody>
      </p:sp>
      <p:sp>
        <p:nvSpPr>
          <p:cNvPr id="7" name="Text 5"/>
          <p:cNvSpPr txBox="1"/>
          <p:nvPr/>
        </p:nvSpPr>
        <p:spPr>
          <a:xfrm>
            <a:off x="5303520" y="1737360"/>
            <a:ext cx="6400800" cy="3840480"/>
          </a:xfrm>
          <a:prstGeom prst="rect">
            <a:avLst/>
          </a:prstGeom>
          <a:noFill/>
          <a:ln/>
        </p:spPr>
        <p:txBody>
          <a:bodyPr wrap="square" lIns="0" tIns="0" rIns="0" bIns="0" rtlCol="0" anchor="t"/>
          <a:lstStyle/>
          <a:p>
            <a:pPr marL="342900" indent="-342900">
              <a:spcAft>
                <a:spcPts val="600"/>
              </a:spcAft>
              <a:buSzPct val="100000"/>
              <a:buChar char="•"/>
            </a:pPr>
            <a:r>
              <a:rPr lang="en-US" sz="2000" dirty="0">
                <a:solidFill>
                  <a:schemeClr val="tx1"/>
                </a:solidFill>
              </a:rPr>
              <a:t>Self-assessment helps learners study independently</a:t>
            </a:r>
            <a:endParaRPr lang="en-US" sz="2000" dirty="0"/>
          </a:p>
          <a:p>
            <a:pPr marL="342900" indent="-342900">
              <a:spcAft>
                <a:spcPts val="600"/>
              </a:spcAft>
              <a:buSzPct val="100000"/>
              <a:buChar char="•"/>
            </a:pPr>
            <a:r>
              <a:rPr lang="en-US" sz="2000" dirty="0">
                <a:solidFill>
                  <a:schemeClr val="tx1"/>
                </a:solidFill>
              </a:rPr>
              <a:t>Free to use: no paid APIs, no accounts, no internet needed for the quiz</a:t>
            </a:r>
            <a:endParaRPr lang="en-US" sz="2000" dirty="0"/>
          </a:p>
          <a:p>
            <a:pPr marL="342900" indent="-342900">
              <a:spcAft>
                <a:spcPts val="600"/>
              </a:spcAft>
              <a:buSzPct val="100000"/>
              <a:buChar char="•"/>
            </a:pPr>
            <a:r>
              <a:rPr lang="en-US" sz="2000" dirty="0">
                <a:solidFill>
                  <a:schemeClr val="tx1"/>
                </a:solidFill>
              </a:rPr>
              <a:t>Instant, explained feedback turns mistakes into learning</a:t>
            </a:r>
            <a:endParaRPr lang="en-US" sz="2000" dirty="0"/>
          </a:p>
          <a:p>
            <a:pPr marL="342900" indent="-342900">
              <a:spcAft>
                <a:spcPts val="600"/>
              </a:spcAft>
              <a:buSzPct val="100000"/>
              <a:buChar char="•"/>
            </a:pPr>
            <a:r>
              <a:rPr lang="en-US" sz="2000" dirty="0">
                <a:solidFill>
                  <a:schemeClr val="tx1"/>
                </a:solidFill>
              </a:rPr>
              <a:t>Open-source stack that other students can reuse</a:t>
            </a:r>
            <a:endParaRPr lang="en-US" sz="20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640080" y="365760"/>
            <a:ext cx="10881360" cy="822960"/>
          </a:xfrm>
          <a:prstGeom prst="rect">
            <a:avLst/>
          </a:prstGeom>
          <a:noFill/>
          <a:ln/>
        </p:spPr>
        <p:txBody>
          <a:bodyPr wrap="square" lIns="0" tIns="0" rIns="0" bIns="0" rtlCol="0" anchor="ctr"/>
          <a:lstStyle/>
          <a:p>
            <a:pPr algn="l" indent="0" marL="0">
              <a:buNone/>
            </a:pPr>
            <a:r>
              <a:rPr lang="en-US" sz="3600" b="1" dirty="0">
                <a:solidFill>
                  <a:schemeClr val="tx1"/>
                </a:solidFill>
              </a:rPr>
              <a:t>Project Objectives</a:t>
            </a:r>
            <a:endParaRPr lang="en-US" sz="3600" dirty="0"/>
          </a:p>
        </p:txBody>
      </p:sp>
      <p:sp>
        <p:nvSpPr>
          <p:cNvPr id="3" name="Objective card 1"/>
          <p:cNvSpPr/>
          <p:nvPr/>
        </p:nvSpPr>
        <p:spPr>
          <a:xfrm>
            <a:off x="640080" y="1645920"/>
            <a:ext cx="5394960" cy="1920240"/>
          </a:xfrm>
          <a:prstGeom prst="roundRect">
            <a:avLst>
              <a:gd name="adj" fmla="val 5714"/>
            </a:avLst>
          </a:prstGeom>
          <a:solidFill>
            <a:schemeClr val="bg2"/>
          </a:solidFill>
          <a:ln w="6350">
            <a:solidFill>
              <a:schemeClr val="bg2"/>
            </a:solidFill>
            <a:prstDash val="solid"/>
          </a:ln>
        </p:spPr>
      </p:sp>
      <p:sp>
        <p:nvSpPr>
          <p:cNvPr id="4" name="Badge 1"/>
          <p:cNvSpPr/>
          <p:nvPr/>
        </p:nvSpPr>
        <p:spPr>
          <a:xfrm>
            <a:off x="914400" y="1965960"/>
            <a:ext cx="640080" cy="640080"/>
          </a:xfrm>
          <a:prstGeom prst="ellipse">
            <a:avLst/>
          </a:prstGeom>
          <a:solidFill>
            <a:schemeClr val="accent1"/>
          </a:solidFill>
          <a:ln w="6350">
            <a:solidFill>
              <a:schemeClr val="accent1"/>
            </a:solidFill>
            <a:prstDash val="solid"/>
          </a:ln>
        </p:spPr>
      </p:sp>
      <p:sp>
        <p:nvSpPr>
          <p:cNvPr id="5" name="Text 3"/>
          <p:cNvSpPr txBox="1"/>
          <p:nvPr/>
        </p:nvSpPr>
        <p:spPr>
          <a:xfrm>
            <a:off x="914400" y="1965960"/>
            <a:ext cx="640080" cy="64008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6" name="Text 4"/>
          <p:cNvSpPr txBox="1"/>
          <p:nvPr/>
        </p:nvSpPr>
        <p:spPr>
          <a:xfrm>
            <a:off x="1828800" y="1920240"/>
            <a:ext cx="3931920" cy="457200"/>
          </a:xfrm>
          <a:prstGeom prst="rect">
            <a:avLst/>
          </a:prstGeom>
          <a:noFill/>
          <a:ln/>
        </p:spPr>
        <p:txBody>
          <a:bodyPr wrap="square" lIns="0" tIns="0" rIns="0" bIns="0" rtlCol="0" anchor="t"/>
          <a:lstStyle/>
          <a:p>
            <a:pPr indent="0" marL="0">
              <a:buNone/>
            </a:pPr>
            <a:r>
              <a:rPr lang="en-US" sz="2200" b="1" dirty="0">
                <a:solidFill>
                  <a:schemeClr val="tx1"/>
                </a:solidFill>
              </a:rPr>
              <a:t>Practice by topic</a:t>
            </a:r>
            <a:endParaRPr lang="en-US" sz="2200" dirty="0"/>
          </a:p>
        </p:txBody>
      </p:sp>
      <p:sp>
        <p:nvSpPr>
          <p:cNvPr id="7" name="Text 5"/>
          <p:cNvSpPr txBox="1"/>
          <p:nvPr/>
        </p:nvSpPr>
        <p:spPr>
          <a:xfrm>
            <a:off x="1828800" y="2468880"/>
            <a:ext cx="3931920" cy="914400"/>
          </a:xfrm>
          <a:prstGeom prst="rect">
            <a:avLst/>
          </a:prstGeom>
          <a:noFill/>
          <a:ln/>
        </p:spPr>
        <p:txBody>
          <a:bodyPr wrap="square" lIns="0" tIns="0" rIns="0" bIns="0" rtlCol="0" anchor="t"/>
          <a:lstStyle/>
          <a:p>
            <a:pPr indent="0" marL="0">
              <a:buNone/>
            </a:pPr>
            <a:r>
              <a:rPr lang="en-US" sz="1600" dirty="0">
                <a:solidFill>
                  <a:schemeClr val="tx1"/>
                </a:solidFill>
              </a:rPr>
              <a:t>Topic, difficulty and number of questions chosen by the student.</a:t>
            </a:r>
            <a:endParaRPr lang="en-US" sz="1600" dirty="0"/>
          </a:p>
        </p:txBody>
      </p:sp>
      <p:sp>
        <p:nvSpPr>
          <p:cNvPr id="8" name="Objective card 2"/>
          <p:cNvSpPr/>
          <p:nvPr/>
        </p:nvSpPr>
        <p:spPr>
          <a:xfrm>
            <a:off x="6309360" y="1645920"/>
            <a:ext cx="5394960" cy="1920240"/>
          </a:xfrm>
          <a:prstGeom prst="roundRect">
            <a:avLst>
              <a:gd name="adj" fmla="val 5714"/>
            </a:avLst>
          </a:prstGeom>
          <a:solidFill>
            <a:schemeClr val="bg2"/>
          </a:solidFill>
          <a:ln w="6350">
            <a:solidFill>
              <a:schemeClr val="bg2"/>
            </a:solidFill>
            <a:prstDash val="solid"/>
          </a:ln>
        </p:spPr>
      </p:sp>
      <p:sp>
        <p:nvSpPr>
          <p:cNvPr id="9" name="Badge 2"/>
          <p:cNvSpPr/>
          <p:nvPr/>
        </p:nvSpPr>
        <p:spPr>
          <a:xfrm>
            <a:off x="6583680" y="1965960"/>
            <a:ext cx="640080" cy="640080"/>
          </a:xfrm>
          <a:prstGeom prst="ellipse">
            <a:avLst/>
          </a:prstGeom>
          <a:solidFill>
            <a:schemeClr val="accent2"/>
          </a:solidFill>
          <a:ln w="6350">
            <a:solidFill>
              <a:schemeClr val="accent2"/>
            </a:solidFill>
            <a:prstDash val="solid"/>
          </a:ln>
        </p:spPr>
      </p:sp>
      <p:sp>
        <p:nvSpPr>
          <p:cNvPr id="10" name="Text 8"/>
          <p:cNvSpPr txBox="1"/>
          <p:nvPr/>
        </p:nvSpPr>
        <p:spPr>
          <a:xfrm>
            <a:off x="6583680" y="1965960"/>
            <a:ext cx="640080" cy="64008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1" name="Text 9"/>
          <p:cNvSpPr txBox="1"/>
          <p:nvPr/>
        </p:nvSpPr>
        <p:spPr>
          <a:xfrm>
            <a:off x="7498080" y="1920240"/>
            <a:ext cx="3931920" cy="457200"/>
          </a:xfrm>
          <a:prstGeom prst="rect">
            <a:avLst/>
          </a:prstGeom>
          <a:noFill/>
          <a:ln/>
        </p:spPr>
        <p:txBody>
          <a:bodyPr wrap="square" lIns="0" tIns="0" rIns="0" bIns="0" rtlCol="0" anchor="t"/>
          <a:lstStyle/>
          <a:p>
            <a:pPr indent="0" marL="0">
              <a:buNone/>
            </a:pPr>
            <a:r>
              <a:rPr lang="en-US" sz="2200" b="1" dirty="0">
                <a:solidFill>
                  <a:schemeClr val="tx1"/>
                </a:solidFill>
              </a:rPr>
              <a:t>Instant feedback</a:t>
            </a:r>
            <a:endParaRPr lang="en-US" sz="2200" dirty="0"/>
          </a:p>
        </p:txBody>
      </p:sp>
      <p:sp>
        <p:nvSpPr>
          <p:cNvPr id="12" name="Text 10"/>
          <p:cNvSpPr txBox="1"/>
          <p:nvPr/>
        </p:nvSpPr>
        <p:spPr>
          <a:xfrm>
            <a:off x="7498080" y="2468880"/>
            <a:ext cx="3931920" cy="914400"/>
          </a:xfrm>
          <a:prstGeom prst="rect">
            <a:avLst/>
          </a:prstGeom>
          <a:noFill/>
          <a:ln/>
        </p:spPr>
        <p:txBody>
          <a:bodyPr wrap="square" lIns="0" tIns="0" rIns="0" bIns="0" rtlCol="0" anchor="t"/>
          <a:lstStyle/>
          <a:p>
            <a:pPr indent="0" marL="0">
              <a:buNone/>
            </a:pPr>
            <a:r>
              <a:rPr lang="en-US" sz="1600" dirty="0">
                <a:solidFill>
                  <a:schemeClr val="tx1"/>
                </a:solidFill>
              </a:rPr>
              <a:t>Score from real answers, with a correct answer and explanation for every question.</a:t>
            </a:r>
            <a:endParaRPr lang="en-US" sz="1600" dirty="0"/>
          </a:p>
        </p:txBody>
      </p:sp>
      <p:sp>
        <p:nvSpPr>
          <p:cNvPr id="13" name="Objective card 3"/>
          <p:cNvSpPr/>
          <p:nvPr/>
        </p:nvSpPr>
        <p:spPr>
          <a:xfrm>
            <a:off x="640080" y="3794760"/>
            <a:ext cx="5394960" cy="1920240"/>
          </a:xfrm>
          <a:prstGeom prst="roundRect">
            <a:avLst>
              <a:gd name="adj" fmla="val 5714"/>
            </a:avLst>
          </a:prstGeom>
          <a:solidFill>
            <a:schemeClr val="bg2"/>
          </a:solidFill>
          <a:ln w="6350">
            <a:solidFill>
              <a:schemeClr val="bg2"/>
            </a:solidFill>
            <a:prstDash val="solid"/>
          </a:ln>
        </p:spPr>
      </p:sp>
      <p:sp>
        <p:nvSpPr>
          <p:cNvPr id="14" name="Badge 3"/>
          <p:cNvSpPr/>
          <p:nvPr/>
        </p:nvSpPr>
        <p:spPr>
          <a:xfrm>
            <a:off x="914400" y="4114800"/>
            <a:ext cx="640080" cy="640080"/>
          </a:xfrm>
          <a:prstGeom prst="ellipse">
            <a:avLst/>
          </a:prstGeom>
          <a:solidFill>
            <a:schemeClr val="accent1"/>
          </a:solidFill>
          <a:ln w="6350">
            <a:solidFill>
              <a:schemeClr val="accent1"/>
            </a:solidFill>
            <a:prstDash val="solid"/>
          </a:ln>
        </p:spPr>
      </p:sp>
      <p:sp>
        <p:nvSpPr>
          <p:cNvPr id="15" name="Text 13"/>
          <p:cNvSpPr txBox="1"/>
          <p:nvPr/>
        </p:nvSpPr>
        <p:spPr>
          <a:xfrm>
            <a:off x="914400" y="4114800"/>
            <a:ext cx="640080" cy="64008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6" name="Text 14"/>
          <p:cNvSpPr txBox="1"/>
          <p:nvPr/>
        </p:nvSpPr>
        <p:spPr>
          <a:xfrm>
            <a:off x="1828800" y="4069080"/>
            <a:ext cx="3931920" cy="457200"/>
          </a:xfrm>
          <a:prstGeom prst="rect">
            <a:avLst/>
          </a:prstGeom>
          <a:noFill/>
          <a:ln/>
        </p:spPr>
        <p:txBody>
          <a:bodyPr wrap="square" lIns="0" tIns="0" rIns="0" bIns="0" rtlCol="0" anchor="t"/>
          <a:lstStyle/>
          <a:p>
            <a:pPr indent="0" marL="0">
              <a:buNone/>
            </a:pPr>
            <a:r>
              <a:rPr lang="en-US" sz="2200" b="1" dirty="0">
                <a:solidFill>
                  <a:schemeClr val="tx1"/>
                </a:solidFill>
              </a:rPr>
              <a:t>Smart revision</a:t>
            </a:r>
            <a:endParaRPr lang="en-US" sz="2200" dirty="0"/>
          </a:p>
        </p:txBody>
      </p:sp>
      <p:sp>
        <p:nvSpPr>
          <p:cNvPr id="17" name="Text 15"/>
          <p:cNvSpPr txBox="1"/>
          <p:nvPr/>
        </p:nvSpPr>
        <p:spPr>
          <a:xfrm>
            <a:off x="1828800" y="4617720"/>
            <a:ext cx="3931920" cy="914400"/>
          </a:xfrm>
          <a:prstGeom prst="rect">
            <a:avLst/>
          </a:prstGeom>
          <a:noFill/>
          <a:ln/>
        </p:spPr>
        <p:txBody>
          <a:bodyPr wrap="square" lIns="0" tIns="0" rIns="0" bIns="0" rtlCol="0" anchor="t"/>
          <a:lstStyle/>
          <a:p>
            <a:pPr indent="0" marL="0">
              <a:buNone/>
            </a:pPr>
            <a:r>
              <a:rPr lang="en-US" sz="1600" dirty="0">
                <a:solidFill>
                  <a:schemeClr val="tx1"/>
                </a:solidFill>
              </a:rPr>
              <a:t>Recommend concepts to revise based on the questions missed.</a:t>
            </a:r>
            <a:endParaRPr lang="en-US" sz="1600" dirty="0"/>
          </a:p>
        </p:txBody>
      </p:sp>
      <p:sp>
        <p:nvSpPr>
          <p:cNvPr id="18" name="Objective card 4"/>
          <p:cNvSpPr/>
          <p:nvPr/>
        </p:nvSpPr>
        <p:spPr>
          <a:xfrm>
            <a:off x="6309360" y="3794760"/>
            <a:ext cx="5394960" cy="1920240"/>
          </a:xfrm>
          <a:prstGeom prst="roundRect">
            <a:avLst>
              <a:gd name="adj" fmla="val 5714"/>
            </a:avLst>
          </a:prstGeom>
          <a:solidFill>
            <a:schemeClr val="bg2"/>
          </a:solidFill>
          <a:ln w="6350">
            <a:solidFill>
              <a:schemeClr val="bg2"/>
            </a:solidFill>
            <a:prstDash val="solid"/>
          </a:ln>
        </p:spPr>
      </p:sp>
      <p:sp>
        <p:nvSpPr>
          <p:cNvPr id="19" name="Badge 4"/>
          <p:cNvSpPr/>
          <p:nvPr/>
        </p:nvSpPr>
        <p:spPr>
          <a:xfrm>
            <a:off x="6583680" y="4114800"/>
            <a:ext cx="640080" cy="640080"/>
          </a:xfrm>
          <a:prstGeom prst="ellipse">
            <a:avLst/>
          </a:prstGeom>
          <a:solidFill>
            <a:schemeClr val="accent2"/>
          </a:solidFill>
          <a:ln w="6350">
            <a:solidFill>
              <a:schemeClr val="accent2"/>
            </a:solidFill>
            <a:prstDash val="solid"/>
          </a:ln>
        </p:spPr>
      </p:sp>
      <p:sp>
        <p:nvSpPr>
          <p:cNvPr id="20" name="Text 18"/>
          <p:cNvSpPr txBox="1"/>
          <p:nvPr/>
        </p:nvSpPr>
        <p:spPr>
          <a:xfrm>
            <a:off x="6583680" y="4114800"/>
            <a:ext cx="640080" cy="640080"/>
          </a:xfrm>
          <a:prstGeom prst="rect">
            <a:avLst/>
          </a:prstGeom>
          <a:no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21" name="Text 19"/>
          <p:cNvSpPr txBox="1"/>
          <p:nvPr/>
        </p:nvSpPr>
        <p:spPr>
          <a:xfrm>
            <a:off x="7498080" y="4069080"/>
            <a:ext cx="3931920" cy="457200"/>
          </a:xfrm>
          <a:prstGeom prst="rect">
            <a:avLst/>
          </a:prstGeom>
          <a:noFill/>
          <a:ln/>
        </p:spPr>
        <p:txBody>
          <a:bodyPr wrap="square" lIns="0" tIns="0" rIns="0" bIns="0" rtlCol="0" anchor="t"/>
          <a:lstStyle/>
          <a:p>
            <a:pPr indent="0" marL="0">
              <a:buNone/>
            </a:pPr>
            <a:r>
              <a:rPr lang="en-US" sz="2200" b="1" dirty="0">
                <a:solidFill>
                  <a:schemeClr val="tx1"/>
                </a:solidFill>
              </a:rPr>
              <a:t>Apply real ML</a:t>
            </a:r>
            <a:endParaRPr lang="en-US" sz="2200" dirty="0"/>
          </a:p>
        </p:txBody>
      </p:sp>
      <p:sp>
        <p:nvSpPr>
          <p:cNvPr id="22" name="Text 20"/>
          <p:cNvSpPr txBox="1"/>
          <p:nvPr/>
        </p:nvSpPr>
        <p:spPr>
          <a:xfrm>
            <a:off x="7498080" y="4617720"/>
            <a:ext cx="3931920" cy="914400"/>
          </a:xfrm>
          <a:prstGeom prst="rect">
            <a:avLst/>
          </a:prstGeom>
          <a:noFill/>
          <a:ln/>
        </p:spPr>
        <p:txBody>
          <a:bodyPr wrap="square" lIns="0" tIns="0" rIns="0" bIns="0" rtlCol="0" anchor="t"/>
          <a:lstStyle/>
          <a:p>
            <a:pPr indent="0" marL="0">
              <a:buNone/>
            </a:pPr>
            <a:r>
              <a:rPr lang="en-US" sz="1600" dirty="0">
                <a:solidFill>
                  <a:schemeClr val="tx1"/>
                </a:solidFill>
              </a:rPr>
              <a:t>A TF-IDF topic classifier, evaluated honestly with measured metrics.</a:t>
            </a:r>
            <a:endParaRPr lang="en-US" sz="16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640080" y="365760"/>
            <a:ext cx="10881360" cy="822960"/>
          </a:xfrm>
          <a:prstGeom prst="rect">
            <a:avLst/>
          </a:prstGeom>
          <a:noFill/>
          <a:ln/>
        </p:spPr>
        <p:txBody>
          <a:bodyPr wrap="square" lIns="0" tIns="0" rIns="0" bIns="0" rtlCol="0" anchor="ctr"/>
          <a:lstStyle/>
          <a:p>
            <a:pPr algn="l" indent="0" marL="0">
              <a:buNone/>
            </a:pPr>
            <a:r>
              <a:rPr lang="en-US" sz="3600" b="1" dirty="0">
                <a:solidFill>
                  <a:schemeClr val="tx1"/>
                </a:solidFill>
              </a:rPr>
              <a:t>Proposed Solution</a:t>
            </a:r>
            <a:endParaRPr lang="en-US" sz="3600" dirty="0"/>
          </a:p>
        </p:txBody>
      </p:sp>
      <p:sp>
        <p:nvSpPr>
          <p:cNvPr id="3" name="Step 1"/>
          <p:cNvSpPr/>
          <p:nvPr/>
        </p:nvSpPr>
        <p:spPr>
          <a:xfrm>
            <a:off x="548640" y="1645920"/>
            <a:ext cx="1965960" cy="1371600"/>
          </a:xfrm>
          <a:prstGeom prst="roundRect">
            <a:avLst>
              <a:gd name="adj" fmla="val 8000"/>
            </a:avLst>
          </a:prstGeom>
          <a:solidFill>
            <a:schemeClr val="accent1"/>
          </a:solidFill>
          <a:ln w="6350">
            <a:solidFill>
              <a:schemeClr val="accent1"/>
            </a:solidFill>
            <a:prstDash val="solid"/>
          </a:ln>
        </p:spPr>
      </p:sp>
      <p:sp>
        <p:nvSpPr>
          <p:cNvPr id="4" name="Text 2"/>
          <p:cNvSpPr txBox="1"/>
          <p:nvPr/>
        </p:nvSpPr>
        <p:spPr>
          <a:xfrm>
            <a:off x="548640" y="1737360"/>
            <a:ext cx="1965960" cy="457200"/>
          </a:xfrm>
          <a:prstGeom prst="rect">
            <a:avLst/>
          </a:prstGeom>
          <a:noFill/>
          <a:ln/>
        </p:spPr>
        <p:txBody>
          <a:bodyPr wrap="square" lIns="0" tIns="0" rIns="0" bIns="0" rtlCol="0" anchor="t"/>
          <a:lstStyle/>
          <a:p>
            <a:pPr algn="ctr" indent="0" marL="0">
              <a:buNone/>
            </a:pPr>
            <a:r>
              <a:rPr lang="en-US" sz="1800" b="1" dirty="0">
                <a:solidFill>
                  <a:schemeClr val="bg1"/>
                </a:solidFill>
              </a:rPr>
              <a:t>1</a:t>
            </a:r>
            <a:endParaRPr lang="en-US" sz="1800" dirty="0"/>
          </a:p>
        </p:txBody>
      </p:sp>
      <p:sp>
        <p:nvSpPr>
          <p:cNvPr id="5" name="Text 3"/>
          <p:cNvSpPr txBox="1"/>
          <p:nvPr/>
        </p:nvSpPr>
        <p:spPr>
          <a:xfrm>
            <a:off x="548640" y="2240280"/>
            <a:ext cx="1965960" cy="548640"/>
          </a:xfrm>
          <a:prstGeom prst="rect">
            <a:avLst/>
          </a:prstGeom>
          <a:noFill/>
          <a:ln/>
        </p:spPr>
        <p:txBody>
          <a:bodyPr wrap="square" lIns="0" tIns="0" rIns="0" bIns="0" rtlCol="0" anchor="t"/>
          <a:lstStyle/>
          <a:p>
            <a:pPr algn="ctr" indent="0" marL="0">
              <a:buNone/>
            </a:pPr>
            <a:r>
              <a:rPr lang="en-US" sz="2000" b="1" dirty="0">
                <a:solidFill>
                  <a:schemeClr val="bg1"/>
                </a:solidFill>
              </a:rPr>
              <a:t>Home</a:t>
            </a:r>
            <a:endParaRPr lang="en-US" sz="2000" dirty="0"/>
          </a:p>
        </p:txBody>
      </p:sp>
      <p:sp>
        <p:nvSpPr>
          <p:cNvPr id="6" name="Arrow"/>
          <p:cNvSpPr/>
          <p:nvPr/>
        </p:nvSpPr>
        <p:spPr>
          <a:xfrm>
            <a:off x="2523744" y="2194560"/>
            <a:ext cx="292608" cy="292608"/>
          </a:xfrm>
          <a:prstGeom prst="rightArrow">
            <a:avLst/>
          </a:prstGeom>
          <a:solidFill>
            <a:schemeClr val="accent3"/>
          </a:solidFill>
          <a:ln w="6350">
            <a:solidFill>
              <a:schemeClr val="accent3"/>
            </a:solidFill>
            <a:prstDash val="solid"/>
          </a:ln>
        </p:spPr>
      </p:sp>
      <p:sp>
        <p:nvSpPr>
          <p:cNvPr id="7" name="Step 2"/>
          <p:cNvSpPr/>
          <p:nvPr/>
        </p:nvSpPr>
        <p:spPr>
          <a:xfrm>
            <a:off x="2834640" y="1645920"/>
            <a:ext cx="1965960" cy="1371600"/>
          </a:xfrm>
          <a:prstGeom prst="roundRect">
            <a:avLst>
              <a:gd name="adj" fmla="val 8000"/>
            </a:avLst>
          </a:prstGeom>
          <a:solidFill>
            <a:schemeClr val="accent1"/>
          </a:solidFill>
          <a:ln w="6350">
            <a:solidFill>
              <a:schemeClr val="accent1"/>
            </a:solidFill>
            <a:prstDash val="solid"/>
          </a:ln>
        </p:spPr>
      </p:sp>
      <p:sp>
        <p:nvSpPr>
          <p:cNvPr id="8" name="Text 6"/>
          <p:cNvSpPr txBox="1"/>
          <p:nvPr/>
        </p:nvSpPr>
        <p:spPr>
          <a:xfrm>
            <a:off x="2834640" y="1737360"/>
            <a:ext cx="1965960" cy="457200"/>
          </a:xfrm>
          <a:prstGeom prst="rect">
            <a:avLst/>
          </a:prstGeom>
          <a:noFill/>
          <a:ln/>
        </p:spPr>
        <p:txBody>
          <a:bodyPr wrap="square" lIns="0" tIns="0" rIns="0" bIns="0" rtlCol="0" anchor="t"/>
          <a:lstStyle/>
          <a:p>
            <a:pPr algn="ctr" indent="0" marL="0">
              <a:buNone/>
            </a:pPr>
            <a:r>
              <a:rPr lang="en-US" sz="1800" b="1" dirty="0">
                <a:solidFill>
                  <a:schemeClr val="bg1"/>
                </a:solidFill>
              </a:rPr>
              <a:t>2</a:t>
            </a:r>
            <a:endParaRPr lang="en-US" sz="1800" dirty="0"/>
          </a:p>
        </p:txBody>
      </p:sp>
      <p:sp>
        <p:nvSpPr>
          <p:cNvPr id="9" name="Text 7"/>
          <p:cNvSpPr txBox="1"/>
          <p:nvPr/>
        </p:nvSpPr>
        <p:spPr>
          <a:xfrm>
            <a:off x="2834640" y="2240280"/>
            <a:ext cx="1965960" cy="548640"/>
          </a:xfrm>
          <a:prstGeom prst="rect">
            <a:avLst/>
          </a:prstGeom>
          <a:noFill/>
          <a:ln/>
        </p:spPr>
        <p:txBody>
          <a:bodyPr wrap="square" lIns="0" tIns="0" rIns="0" bIns="0" rtlCol="0" anchor="t"/>
          <a:lstStyle/>
          <a:p>
            <a:pPr algn="ctr" indent="0" marL="0">
              <a:buNone/>
            </a:pPr>
            <a:r>
              <a:rPr lang="en-US" sz="2000" b="1" dirty="0">
                <a:solidFill>
                  <a:schemeClr val="bg1"/>
                </a:solidFill>
              </a:rPr>
              <a:t>Choose quiz</a:t>
            </a:r>
            <a:endParaRPr lang="en-US" sz="2000" dirty="0"/>
          </a:p>
        </p:txBody>
      </p:sp>
      <p:sp>
        <p:nvSpPr>
          <p:cNvPr id="10" name="Arrow"/>
          <p:cNvSpPr/>
          <p:nvPr/>
        </p:nvSpPr>
        <p:spPr>
          <a:xfrm>
            <a:off x="4809744" y="2194560"/>
            <a:ext cx="292608" cy="292608"/>
          </a:xfrm>
          <a:prstGeom prst="rightArrow">
            <a:avLst/>
          </a:prstGeom>
          <a:solidFill>
            <a:schemeClr val="accent3"/>
          </a:solidFill>
          <a:ln w="6350">
            <a:solidFill>
              <a:schemeClr val="accent3"/>
            </a:solidFill>
            <a:prstDash val="solid"/>
          </a:ln>
        </p:spPr>
      </p:sp>
      <p:sp>
        <p:nvSpPr>
          <p:cNvPr id="11" name="Step 3"/>
          <p:cNvSpPr/>
          <p:nvPr/>
        </p:nvSpPr>
        <p:spPr>
          <a:xfrm>
            <a:off x="5120640" y="1645920"/>
            <a:ext cx="1965960" cy="1371600"/>
          </a:xfrm>
          <a:prstGeom prst="roundRect">
            <a:avLst>
              <a:gd name="adj" fmla="val 8000"/>
            </a:avLst>
          </a:prstGeom>
          <a:solidFill>
            <a:schemeClr val="accent1"/>
          </a:solidFill>
          <a:ln w="6350">
            <a:solidFill>
              <a:schemeClr val="accent1"/>
            </a:solidFill>
            <a:prstDash val="solid"/>
          </a:ln>
        </p:spPr>
      </p:sp>
      <p:sp>
        <p:nvSpPr>
          <p:cNvPr id="12" name="Text 10"/>
          <p:cNvSpPr txBox="1"/>
          <p:nvPr/>
        </p:nvSpPr>
        <p:spPr>
          <a:xfrm>
            <a:off x="5120640" y="1737360"/>
            <a:ext cx="1965960" cy="457200"/>
          </a:xfrm>
          <a:prstGeom prst="rect">
            <a:avLst/>
          </a:prstGeom>
          <a:noFill/>
          <a:ln/>
        </p:spPr>
        <p:txBody>
          <a:bodyPr wrap="square" lIns="0" tIns="0" rIns="0" bIns="0" rtlCol="0" anchor="t"/>
          <a:lstStyle/>
          <a:p>
            <a:pPr algn="ctr" indent="0" marL="0">
              <a:buNone/>
            </a:pPr>
            <a:r>
              <a:rPr lang="en-US" sz="1800" b="1" dirty="0">
                <a:solidFill>
                  <a:schemeClr val="bg1"/>
                </a:solidFill>
              </a:rPr>
              <a:t>3</a:t>
            </a:r>
            <a:endParaRPr lang="en-US" sz="1800" dirty="0"/>
          </a:p>
        </p:txBody>
      </p:sp>
      <p:sp>
        <p:nvSpPr>
          <p:cNvPr id="13" name="Text 11"/>
          <p:cNvSpPr txBox="1"/>
          <p:nvPr/>
        </p:nvSpPr>
        <p:spPr>
          <a:xfrm>
            <a:off x="5120640" y="2240280"/>
            <a:ext cx="1965960" cy="548640"/>
          </a:xfrm>
          <a:prstGeom prst="rect">
            <a:avLst/>
          </a:prstGeom>
          <a:noFill/>
          <a:ln/>
        </p:spPr>
        <p:txBody>
          <a:bodyPr wrap="square" lIns="0" tIns="0" rIns="0" bIns="0" rtlCol="0" anchor="t"/>
          <a:lstStyle/>
          <a:p>
            <a:pPr algn="ctr" indent="0" marL="0">
              <a:buNone/>
            </a:pPr>
            <a:r>
              <a:rPr lang="en-US" sz="2000" b="1" dirty="0">
                <a:solidFill>
                  <a:schemeClr val="bg1"/>
                </a:solidFill>
              </a:rPr>
              <a:t>Answer</a:t>
            </a:r>
            <a:endParaRPr lang="en-US" sz="2000" dirty="0"/>
          </a:p>
        </p:txBody>
      </p:sp>
      <p:sp>
        <p:nvSpPr>
          <p:cNvPr id="14" name="Arrow"/>
          <p:cNvSpPr/>
          <p:nvPr/>
        </p:nvSpPr>
        <p:spPr>
          <a:xfrm>
            <a:off x="7095744" y="2194560"/>
            <a:ext cx="292608" cy="292608"/>
          </a:xfrm>
          <a:prstGeom prst="rightArrow">
            <a:avLst/>
          </a:prstGeom>
          <a:solidFill>
            <a:schemeClr val="accent3"/>
          </a:solidFill>
          <a:ln w="6350">
            <a:solidFill>
              <a:schemeClr val="accent3"/>
            </a:solidFill>
            <a:prstDash val="solid"/>
          </a:ln>
        </p:spPr>
      </p:sp>
      <p:sp>
        <p:nvSpPr>
          <p:cNvPr id="15" name="Step 4"/>
          <p:cNvSpPr/>
          <p:nvPr/>
        </p:nvSpPr>
        <p:spPr>
          <a:xfrm>
            <a:off x="7406640" y="1645920"/>
            <a:ext cx="1965960" cy="1371600"/>
          </a:xfrm>
          <a:prstGeom prst="roundRect">
            <a:avLst>
              <a:gd name="adj" fmla="val 8000"/>
            </a:avLst>
          </a:prstGeom>
          <a:solidFill>
            <a:schemeClr val="accent1"/>
          </a:solidFill>
          <a:ln w="6350">
            <a:solidFill>
              <a:schemeClr val="accent1"/>
            </a:solidFill>
            <a:prstDash val="solid"/>
          </a:ln>
        </p:spPr>
      </p:sp>
      <p:sp>
        <p:nvSpPr>
          <p:cNvPr id="16" name="Text 14"/>
          <p:cNvSpPr txBox="1"/>
          <p:nvPr/>
        </p:nvSpPr>
        <p:spPr>
          <a:xfrm>
            <a:off x="7406640" y="1737360"/>
            <a:ext cx="1965960" cy="457200"/>
          </a:xfrm>
          <a:prstGeom prst="rect">
            <a:avLst/>
          </a:prstGeom>
          <a:noFill/>
          <a:ln/>
        </p:spPr>
        <p:txBody>
          <a:bodyPr wrap="square" lIns="0" tIns="0" rIns="0" bIns="0" rtlCol="0" anchor="t"/>
          <a:lstStyle/>
          <a:p>
            <a:pPr algn="ctr" indent="0" marL="0">
              <a:buNone/>
            </a:pPr>
            <a:r>
              <a:rPr lang="en-US" sz="1800" b="1" dirty="0">
                <a:solidFill>
                  <a:schemeClr val="bg1"/>
                </a:solidFill>
              </a:rPr>
              <a:t>4</a:t>
            </a:r>
            <a:endParaRPr lang="en-US" sz="1800" dirty="0"/>
          </a:p>
        </p:txBody>
      </p:sp>
      <p:sp>
        <p:nvSpPr>
          <p:cNvPr id="17" name="Text 15"/>
          <p:cNvSpPr txBox="1"/>
          <p:nvPr/>
        </p:nvSpPr>
        <p:spPr>
          <a:xfrm>
            <a:off x="7406640" y="2240280"/>
            <a:ext cx="1965960" cy="548640"/>
          </a:xfrm>
          <a:prstGeom prst="rect">
            <a:avLst/>
          </a:prstGeom>
          <a:noFill/>
          <a:ln/>
        </p:spPr>
        <p:txBody>
          <a:bodyPr wrap="square" lIns="0" tIns="0" rIns="0" bIns="0" rtlCol="0" anchor="t"/>
          <a:lstStyle/>
          <a:p>
            <a:pPr algn="ctr" indent="0" marL="0">
              <a:buNone/>
            </a:pPr>
            <a:r>
              <a:rPr lang="en-US" sz="2000" b="1" dirty="0">
                <a:solidFill>
                  <a:schemeClr val="bg1"/>
                </a:solidFill>
              </a:rPr>
              <a:t>Results</a:t>
            </a:r>
            <a:endParaRPr lang="en-US" sz="2000" dirty="0"/>
          </a:p>
        </p:txBody>
      </p:sp>
      <p:sp>
        <p:nvSpPr>
          <p:cNvPr id="18" name="Arrow"/>
          <p:cNvSpPr/>
          <p:nvPr/>
        </p:nvSpPr>
        <p:spPr>
          <a:xfrm>
            <a:off x="9381744" y="2194560"/>
            <a:ext cx="292608" cy="292608"/>
          </a:xfrm>
          <a:prstGeom prst="rightArrow">
            <a:avLst/>
          </a:prstGeom>
          <a:solidFill>
            <a:schemeClr val="accent3"/>
          </a:solidFill>
          <a:ln w="6350">
            <a:solidFill>
              <a:schemeClr val="accent3"/>
            </a:solidFill>
            <a:prstDash val="solid"/>
          </a:ln>
        </p:spPr>
      </p:sp>
      <p:sp>
        <p:nvSpPr>
          <p:cNvPr id="19" name="Step 5"/>
          <p:cNvSpPr/>
          <p:nvPr/>
        </p:nvSpPr>
        <p:spPr>
          <a:xfrm>
            <a:off x="9692640" y="1645920"/>
            <a:ext cx="1965960" cy="1371600"/>
          </a:xfrm>
          <a:prstGeom prst="roundRect">
            <a:avLst>
              <a:gd name="adj" fmla="val 8000"/>
            </a:avLst>
          </a:prstGeom>
          <a:solidFill>
            <a:schemeClr val="accent3"/>
          </a:solidFill>
          <a:ln w="6350">
            <a:solidFill>
              <a:schemeClr val="accent3"/>
            </a:solidFill>
            <a:prstDash val="solid"/>
          </a:ln>
        </p:spPr>
      </p:sp>
      <p:sp>
        <p:nvSpPr>
          <p:cNvPr id="20" name="Text 18"/>
          <p:cNvSpPr txBox="1"/>
          <p:nvPr/>
        </p:nvSpPr>
        <p:spPr>
          <a:xfrm>
            <a:off x="9692640" y="1737360"/>
            <a:ext cx="1965960" cy="457200"/>
          </a:xfrm>
          <a:prstGeom prst="rect">
            <a:avLst/>
          </a:prstGeom>
          <a:noFill/>
          <a:ln/>
        </p:spPr>
        <p:txBody>
          <a:bodyPr wrap="square" lIns="0" tIns="0" rIns="0" bIns="0" rtlCol="0" anchor="t"/>
          <a:lstStyle/>
          <a:p>
            <a:pPr algn="ctr" indent="0" marL="0">
              <a:buNone/>
            </a:pPr>
            <a:r>
              <a:rPr lang="en-US" sz="1800" b="1" dirty="0">
                <a:solidFill>
                  <a:schemeClr val="tx1"/>
                </a:solidFill>
              </a:rPr>
              <a:t>5</a:t>
            </a:r>
            <a:endParaRPr lang="en-US" sz="1800" dirty="0"/>
          </a:p>
        </p:txBody>
      </p:sp>
      <p:sp>
        <p:nvSpPr>
          <p:cNvPr id="21" name="Text 19"/>
          <p:cNvSpPr txBox="1"/>
          <p:nvPr/>
        </p:nvSpPr>
        <p:spPr>
          <a:xfrm>
            <a:off x="9692640" y="2240280"/>
            <a:ext cx="1965960" cy="548640"/>
          </a:xfrm>
          <a:prstGeom prst="rect">
            <a:avLst/>
          </a:prstGeom>
          <a:noFill/>
          <a:ln/>
        </p:spPr>
        <p:txBody>
          <a:bodyPr wrap="square" lIns="0" tIns="0" rIns="0" bIns="0" rtlCol="0" anchor="t"/>
          <a:lstStyle/>
          <a:p>
            <a:pPr algn="ctr" indent="0" marL="0">
              <a:buNone/>
            </a:pPr>
            <a:r>
              <a:rPr lang="en-US" sz="2000" b="1" dirty="0">
                <a:solidFill>
                  <a:schemeClr val="tx1"/>
                </a:solidFill>
              </a:rPr>
              <a:t>Revise</a:t>
            </a:r>
            <a:endParaRPr lang="en-US" sz="2000" dirty="0"/>
          </a:p>
        </p:txBody>
      </p:sp>
      <p:sp>
        <p:nvSpPr>
          <p:cNvPr id="22" name="Topic Finder card"/>
          <p:cNvSpPr/>
          <p:nvPr/>
        </p:nvSpPr>
        <p:spPr>
          <a:xfrm>
            <a:off x="640080" y="3474720"/>
            <a:ext cx="10881360" cy="2286000"/>
          </a:xfrm>
          <a:prstGeom prst="roundRect">
            <a:avLst>
              <a:gd name="adj" fmla="val 4800"/>
            </a:avLst>
          </a:prstGeom>
          <a:solidFill>
            <a:schemeClr val="bg2"/>
          </a:solidFill>
          <a:ln w="6350">
            <a:solidFill>
              <a:schemeClr val="bg2"/>
            </a:solidFill>
            <a:prstDash val="solid"/>
          </a:ln>
        </p:spPr>
      </p:sp>
      <p:sp>
        <p:nvSpPr>
          <p:cNvPr id="23" name="Badge ML"/>
          <p:cNvSpPr/>
          <p:nvPr/>
        </p:nvSpPr>
        <p:spPr>
          <a:xfrm>
            <a:off x="914400" y="3749040"/>
            <a:ext cx="731520" cy="731520"/>
          </a:xfrm>
          <a:prstGeom prst="ellipse">
            <a:avLst/>
          </a:prstGeom>
          <a:solidFill>
            <a:schemeClr val="accent2"/>
          </a:solidFill>
          <a:ln w="6350">
            <a:solidFill>
              <a:schemeClr val="accent2"/>
            </a:solidFill>
            <a:prstDash val="solid"/>
          </a:ln>
        </p:spPr>
      </p:sp>
      <p:sp>
        <p:nvSpPr>
          <p:cNvPr id="24" name="Text 22"/>
          <p:cNvSpPr txBox="1"/>
          <p:nvPr/>
        </p:nvSpPr>
        <p:spPr>
          <a:xfrm>
            <a:off x="914400" y="3749040"/>
            <a:ext cx="731520" cy="731520"/>
          </a:xfrm>
          <a:prstGeom prst="rect">
            <a:avLst/>
          </a:prstGeom>
          <a:noFill/>
          <a:ln/>
        </p:spPr>
        <p:txBody>
          <a:bodyPr wrap="square" lIns="0" tIns="0" rIns="0" bIns="0" rtlCol="0" anchor="ctr"/>
          <a:lstStyle/>
          <a:p>
            <a:pPr algn="ctr" indent="0" marL="0">
              <a:buNone/>
            </a:pPr>
            <a:r>
              <a:rPr lang="en-US" sz="1800" b="1" dirty="0">
                <a:solidFill>
                  <a:schemeClr val="bg1"/>
                </a:solidFill>
              </a:rPr>
              <a:t>ML</a:t>
            </a:r>
            <a:endParaRPr lang="en-US" sz="1800" dirty="0"/>
          </a:p>
        </p:txBody>
      </p:sp>
      <p:sp>
        <p:nvSpPr>
          <p:cNvPr id="25" name="Text 23"/>
          <p:cNvSpPr txBox="1"/>
          <p:nvPr/>
        </p:nvSpPr>
        <p:spPr>
          <a:xfrm>
            <a:off x="1920240" y="3749040"/>
            <a:ext cx="9144000" cy="457200"/>
          </a:xfrm>
          <a:prstGeom prst="rect">
            <a:avLst/>
          </a:prstGeom>
          <a:noFill/>
          <a:ln/>
        </p:spPr>
        <p:txBody>
          <a:bodyPr wrap="square" lIns="0" tIns="0" rIns="0" bIns="0" rtlCol="0" anchor="t"/>
          <a:lstStyle/>
          <a:p>
            <a:pPr indent="0" marL="0">
              <a:buNone/>
            </a:pPr>
            <a:r>
              <a:rPr lang="en-US" sz="2200" b="1" dirty="0">
                <a:solidFill>
                  <a:schemeClr val="tx1"/>
                </a:solidFill>
              </a:rPr>
              <a:t>Topic Finder (machine learning)</a:t>
            </a:r>
            <a:endParaRPr lang="en-US" sz="2200" dirty="0"/>
          </a:p>
        </p:txBody>
      </p:sp>
      <p:sp>
        <p:nvSpPr>
          <p:cNvPr id="26" name="Text 24"/>
          <p:cNvSpPr txBox="1"/>
          <p:nvPr/>
        </p:nvSpPr>
        <p:spPr>
          <a:xfrm>
            <a:off x="1920240" y="4343400"/>
            <a:ext cx="9144000" cy="1188720"/>
          </a:xfrm>
          <a:prstGeom prst="rect">
            <a:avLst/>
          </a:prstGeom>
          <a:noFill/>
          <a:ln/>
        </p:spPr>
        <p:txBody>
          <a:bodyPr wrap="square" lIns="0" tIns="0" rIns="0" bIns="0" rtlCol="0" anchor="t"/>
          <a:lstStyle/>
          <a:p>
            <a:pPr indent="0" marL="0">
              <a:buNone/>
            </a:pPr>
            <a:r>
              <a:rPr lang="en-US" sz="1800" dirty="0">
                <a:solidFill>
                  <a:schemeClr val="tx1"/>
                </a:solidFill>
              </a:rPr>
              <a:t>The student types what they want to learn. A scikit-learn classifier predicts the most likely topic and suggests a matching quiz. If it is unsure, it says so.</a:t>
            </a:r>
            <a:endParaRPr lang="en-US" sz="18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640080" y="365760"/>
            <a:ext cx="10881360" cy="822960"/>
          </a:xfrm>
          <a:prstGeom prst="rect">
            <a:avLst/>
          </a:prstGeom>
          <a:noFill/>
          <a:ln/>
        </p:spPr>
        <p:txBody>
          <a:bodyPr wrap="square" lIns="0" tIns="0" rIns="0" bIns="0" rtlCol="0" anchor="ctr"/>
          <a:lstStyle/>
          <a:p>
            <a:pPr algn="l" indent="0" marL="0">
              <a:buNone/>
            </a:pPr>
            <a:r>
              <a:rPr lang="en-US" sz="3600" b="1" dirty="0">
                <a:solidFill>
                  <a:schemeClr val="tx1"/>
                </a:solidFill>
              </a:rPr>
              <a:t>System Architecture</a:t>
            </a:r>
            <a:endParaRPr lang="en-US" sz="3600" dirty="0"/>
          </a:p>
        </p:txBody>
      </p:sp>
      <p:sp>
        <p:nvSpPr>
          <p:cNvPr id="3" name="Data box 1"/>
          <p:cNvSpPr/>
          <p:nvPr/>
        </p:nvSpPr>
        <p:spPr>
          <a:xfrm>
            <a:off x="640080" y="1463040"/>
            <a:ext cx="7452360" cy="731520"/>
          </a:xfrm>
          <a:prstGeom prst="roundRect">
            <a:avLst>
              <a:gd name="adj" fmla="val 15000"/>
            </a:avLst>
          </a:prstGeom>
          <a:solidFill>
            <a:schemeClr val="tx1"/>
          </a:solidFill>
          <a:ln w="6350">
            <a:solidFill>
              <a:schemeClr val="tx1"/>
            </a:solidFill>
            <a:prstDash val="solid"/>
          </a:ln>
        </p:spPr>
      </p:sp>
      <p:sp>
        <p:nvSpPr>
          <p:cNvPr id="4" name="Text 2"/>
          <p:cNvSpPr txBox="1"/>
          <p:nvPr/>
        </p:nvSpPr>
        <p:spPr>
          <a:xfrm>
            <a:off x="640080" y="1463040"/>
            <a:ext cx="7452360" cy="731520"/>
          </a:xfrm>
          <a:prstGeom prst="rect">
            <a:avLst/>
          </a:prstGeom>
          <a:noFill/>
          <a:ln/>
        </p:spPr>
        <p:txBody>
          <a:bodyPr wrap="square" lIns="0" tIns="0" rIns="0" bIns="0" rtlCol="0" anchor="ctr"/>
          <a:lstStyle/>
          <a:p>
            <a:pPr algn="ctr" indent="0" marL="0">
              <a:buNone/>
            </a:pPr>
            <a:r>
              <a:rPr lang="en-US" sz="1800" b="1" dirty="0">
                <a:solidFill>
                  <a:schemeClr val="bg1"/>
                </a:solidFill>
              </a:rPr>
              <a:t>data/questions.json  (curated question bank)</a:t>
            </a:r>
            <a:endParaRPr lang="en-US" sz="1800" dirty="0"/>
          </a:p>
        </p:txBody>
      </p:sp>
      <p:sp>
        <p:nvSpPr>
          <p:cNvPr id="5" name="Data box 2"/>
          <p:cNvSpPr/>
          <p:nvPr/>
        </p:nvSpPr>
        <p:spPr>
          <a:xfrm>
            <a:off x="8229600" y="1463040"/>
            <a:ext cx="3474720" cy="731520"/>
          </a:xfrm>
          <a:prstGeom prst="roundRect">
            <a:avLst>
              <a:gd name="adj" fmla="val 15000"/>
            </a:avLst>
          </a:prstGeom>
          <a:solidFill>
            <a:schemeClr val="tx1"/>
          </a:solidFill>
          <a:ln w="6350">
            <a:solidFill>
              <a:schemeClr val="tx1"/>
            </a:solidFill>
            <a:prstDash val="solid"/>
          </a:ln>
        </p:spPr>
      </p:sp>
      <p:sp>
        <p:nvSpPr>
          <p:cNvPr id="6" name="Text 4"/>
          <p:cNvSpPr txBox="1"/>
          <p:nvPr/>
        </p:nvSpPr>
        <p:spPr>
          <a:xfrm>
            <a:off x="8229600" y="1463040"/>
            <a:ext cx="3474720" cy="731520"/>
          </a:xfrm>
          <a:prstGeom prst="rect">
            <a:avLst/>
          </a:prstGeom>
          <a:noFill/>
          <a:ln/>
        </p:spPr>
        <p:txBody>
          <a:bodyPr wrap="square" lIns="0" tIns="0" rIns="0" bIns="0" rtlCol="0" anchor="ctr"/>
          <a:lstStyle/>
          <a:p>
            <a:pPr algn="ctr" indent="0" marL="0">
              <a:buNone/>
            </a:pPr>
            <a:r>
              <a:rPr lang="en-US" sz="1800" b="1" dirty="0">
                <a:solidFill>
                  <a:schemeClr val="bg1"/>
                </a:solidFill>
              </a:rPr>
              <a:t>data/topic_training_data.csv</a:t>
            </a:r>
            <a:endParaRPr lang="en-US" sz="1800" dirty="0"/>
          </a:p>
        </p:txBody>
      </p:sp>
      <p:sp>
        <p:nvSpPr>
          <p:cNvPr id="7" name="Arrow"/>
          <p:cNvSpPr/>
          <p:nvPr/>
        </p:nvSpPr>
        <p:spPr>
          <a:xfrm>
            <a:off x="2231136" y="2331720"/>
            <a:ext cx="292608" cy="292608"/>
          </a:xfrm>
          <a:prstGeom prst="downArrow">
            <a:avLst/>
          </a:prstGeom>
          <a:solidFill>
            <a:schemeClr val="accent3"/>
          </a:solidFill>
          <a:ln w="6350">
            <a:solidFill>
              <a:schemeClr val="accent3"/>
            </a:solidFill>
            <a:prstDash val="solid"/>
          </a:ln>
        </p:spPr>
      </p:sp>
      <p:sp>
        <p:nvSpPr>
          <p:cNvPr id="8" name="Component 1"/>
          <p:cNvSpPr/>
          <p:nvPr/>
        </p:nvSpPr>
        <p:spPr>
          <a:xfrm>
            <a:off x="640080" y="2743200"/>
            <a:ext cx="3474720" cy="1737360"/>
          </a:xfrm>
          <a:prstGeom prst="roundRect">
            <a:avLst>
              <a:gd name="adj" fmla="val 6316"/>
            </a:avLst>
          </a:prstGeom>
          <a:solidFill>
            <a:schemeClr val="accent1"/>
          </a:solidFill>
          <a:ln w="6350">
            <a:solidFill>
              <a:schemeClr val="accent1"/>
            </a:solidFill>
            <a:prstDash val="solid"/>
          </a:ln>
        </p:spPr>
      </p:sp>
      <p:sp>
        <p:nvSpPr>
          <p:cNvPr id="9" name="Text 7"/>
          <p:cNvSpPr txBox="1"/>
          <p:nvPr/>
        </p:nvSpPr>
        <p:spPr>
          <a:xfrm>
            <a:off x="868680" y="2926080"/>
            <a:ext cx="3017520" cy="457200"/>
          </a:xfrm>
          <a:prstGeom prst="rect">
            <a:avLst/>
          </a:prstGeom>
          <a:noFill/>
          <a:ln/>
        </p:spPr>
        <p:txBody>
          <a:bodyPr wrap="square" lIns="0" tIns="0" rIns="0" bIns="0" rtlCol="0" anchor="t"/>
          <a:lstStyle/>
          <a:p>
            <a:pPr indent="0" marL="0">
              <a:buNone/>
            </a:pPr>
            <a:r>
              <a:rPr lang="en-US" sz="2200" b="1" dirty="0">
                <a:solidFill>
                  <a:schemeClr val="bg1"/>
                </a:solidFill>
              </a:rPr>
              <a:t>Quiz logic</a:t>
            </a:r>
            <a:endParaRPr lang="en-US" sz="2200" dirty="0"/>
          </a:p>
        </p:txBody>
      </p:sp>
      <p:sp>
        <p:nvSpPr>
          <p:cNvPr id="10" name="Text 8"/>
          <p:cNvSpPr txBox="1"/>
          <p:nvPr/>
        </p:nvSpPr>
        <p:spPr>
          <a:xfrm>
            <a:off x="868680" y="3474720"/>
            <a:ext cx="3017520" cy="914400"/>
          </a:xfrm>
          <a:prstGeom prst="rect">
            <a:avLst/>
          </a:prstGeom>
          <a:noFill/>
          <a:ln/>
        </p:spPr>
        <p:txBody>
          <a:bodyPr wrap="square" lIns="0" tIns="0" rIns="0" bIns="0" rtlCol="0" anchor="t"/>
          <a:lstStyle/>
          <a:p>
            <a:pPr indent="0" marL="0">
              <a:buNone/>
            </a:pPr>
            <a:r>
              <a:rPr lang="en-US" sz="1600" dirty="0">
                <a:solidFill>
                  <a:schemeClr val="bg1"/>
                </a:solidFill>
              </a:rPr>
              <a:t>Select, check, score. No ML: plain arithmetic.</a:t>
            </a:r>
            <a:endParaRPr lang="en-US" sz="1600" dirty="0"/>
          </a:p>
        </p:txBody>
      </p:sp>
      <p:sp>
        <p:nvSpPr>
          <p:cNvPr id="11" name="Arrow"/>
          <p:cNvSpPr/>
          <p:nvPr/>
        </p:nvSpPr>
        <p:spPr>
          <a:xfrm>
            <a:off x="2231136" y="4572000"/>
            <a:ext cx="292608" cy="292608"/>
          </a:xfrm>
          <a:prstGeom prst="downArrow">
            <a:avLst/>
          </a:prstGeom>
          <a:solidFill>
            <a:schemeClr val="accent3"/>
          </a:solidFill>
          <a:ln w="6350">
            <a:solidFill>
              <a:schemeClr val="accent3"/>
            </a:solidFill>
            <a:prstDash val="solid"/>
          </a:ln>
        </p:spPr>
      </p:sp>
      <p:sp>
        <p:nvSpPr>
          <p:cNvPr id="12" name="Arrow"/>
          <p:cNvSpPr/>
          <p:nvPr/>
        </p:nvSpPr>
        <p:spPr>
          <a:xfrm>
            <a:off x="6025896" y="2331720"/>
            <a:ext cx="292608" cy="292608"/>
          </a:xfrm>
          <a:prstGeom prst="downArrow">
            <a:avLst/>
          </a:prstGeom>
          <a:solidFill>
            <a:schemeClr val="accent3"/>
          </a:solidFill>
          <a:ln w="6350">
            <a:solidFill>
              <a:schemeClr val="accent3"/>
            </a:solidFill>
            <a:prstDash val="solid"/>
          </a:ln>
        </p:spPr>
      </p:sp>
      <p:sp>
        <p:nvSpPr>
          <p:cNvPr id="13" name="Component 2"/>
          <p:cNvSpPr/>
          <p:nvPr/>
        </p:nvSpPr>
        <p:spPr>
          <a:xfrm>
            <a:off x="4434840" y="2743200"/>
            <a:ext cx="3474720" cy="1737360"/>
          </a:xfrm>
          <a:prstGeom prst="roundRect">
            <a:avLst>
              <a:gd name="adj" fmla="val 6316"/>
            </a:avLst>
          </a:prstGeom>
          <a:solidFill>
            <a:schemeClr val="accent1"/>
          </a:solidFill>
          <a:ln w="6350">
            <a:solidFill>
              <a:schemeClr val="accent1"/>
            </a:solidFill>
            <a:prstDash val="solid"/>
          </a:ln>
        </p:spPr>
      </p:sp>
      <p:sp>
        <p:nvSpPr>
          <p:cNvPr id="14" name="Text 12"/>
          <p:cNvSpPr txBox="1"/>
          <p:nvPr/>
        </p:nvSpPr>
        <p:spPr>
          <a:xfrm>
            <a:off x="4663440" y="2926080"/>
            <a:ext cx="3017520" cy="457200"/>
          </a:xfrm>
          <a:prstGeom prst="rect">
            <a:avLst/>
          </a:prstGeom>
          <a:noFill/>
          <a:ln/>
        </p:spPr>
        <p:txBody>
          <a:bodyPr wrap="square" lIns="0" tIns="0" rIns="0" bIns="0" rtlCol="0" anchor="t"/>
          <a:lstStyle/>
          <a:p>
            <a:pPr indent="0" marL="0">
              <a:buNone/>
            </a:pPr>
            <a:r>
              <a:rPr lang="en-US" sz="2200" b="1" dirty="0">
                <a:solidFill>
                  <a:schemeClr val="bg1"/>
                </a:solidFill>
              </a:rPr>
              <a:t>Recommendations</a:t>
            </a:r>
            <a:endParaRPr lang="en-US" sz="2200" dirty="0"/>
          </a:p>
        </p:txBody>
      </p:sp>
      <p:sp>
        <p:nvSpPr>
          <p:cNvPr id="15" name="Text 13"/>
          <p:cNvSpPr txBox="1"/>
          <p:nvPr/>
        </p:nvSpPr>
        <p:spPr>
          <a:xfrm>
            <a:off x="4663440" y="3474720"/>
            <a:ext cx="3017520" cy="914400"/>
          </a:xfrm>
          <a:prstGeom prst="rect">
            <a:avLst/>
          </a:prstGeom>
          <a:noFill/>
          <a:ln/>
        </p:spPr>
        <p:txBody>
          <a:bodyPr wrap="square" lIns="0" tIns="0" rIns="0" bIns="0" rtlCol="0" anchor="t"/>
          <a:lstStyle/>
          <a:p>
            <a:pPr indent="0" marL="0">
              <a:buNone/>
            </a:pPr>
            <a:r>
              <a:rPr lang="en-US" sz="1600" dirty="0">
                <a:solidFill>
                  <a:schemeClr val="bg1"/>
                </a:solidFill>
              </a:rPr>
              <a:t>Rules on missed concepts. No ML.</a:t>
            </a:r>
            <a:endParaRPr lang="en-US" sz="1600" dirty="0"/>
          </a:p>
        </p:txBody>
      </p:sp>
      <p:sp>
        <p:nvSpPr>
          <p:cNvPr id="16" name="Arrow"/>
          <p:cNvSpPr/>
          <p:nvPr/>
        </p:nvSpPr>
        <p:spPr>
          <a:xfrm>
            <a:off x="6025896" y="4572000"/>
            <a:ext cx="292608" cy="292608"/>
          </a:xfrm>
          <a:prstGeom prst="downArrow">
            <a:avLst/>
          </a:prstGeom>
          <a:solidFill>
            <a:schemeClr val="accent3"/>
          </a:solidFill>
          <a:ln w="6350">
            <a:solidFill>
              <a:schemeClr val="accent3"/>
            </a:solidFill>
            <a:prstDash val="solid"/>
          </a:ln>
        </p:spPr>
      </p:sp>
      <p:sp>
        <p:nvSpPr>
          <p:cNvPr id="17" name="Arrow"/>
          <p:cNvSpPr/>
          <p:nvPr/>
        </p:nvSpPr>
        <p:spPr>
          <a:xfrm>
            <a:off x="9820656" y="2331720"/>
            <a:ext cx="292608" cy="292608"/>
          </a:xfrm>
          <a:prstGeom prst="downArrow">
            <a:avLst/>
          </a:prstGeom>
          <a:solidFill>
            <a:schemeClr val="accent3"/>
          </a:solidFill>
          <a:ln w="6350">
            <a:solidFill>
              <a:schemeClr val="accent3"/>
            </a:solidFill>
            <a:prstDash val="solid"/>
          </a:ln>
        </p:spPr>
      </p:sp>
      <p:sp>
        <p:nvSpPr>
          <p:cNvPr id="18" name="Component 3"/>
          <p:cNvSpPr/>
          <p:nvPr/>
        </p:nvSpPr>
        <p:spPr>
          <a:xfrm>
            <a:off x="8229600" y="2743200"/>
            <a:ext cx="3474720" cy="1737360"/>
          </a:xfrm>
          <a:prstGeom prst="roundRect">
            <a:avLst>
              <a:gd name="adj" fmla="val 6316"/>
            </a:avLst>
          </a:prstGeom>
          <a:solidFill>
            <a:schemeClr val="accent2"/>
          </a:solidFill>
          <a:ln w="6350">
            <a:solidFill>
              <a:schemeClr val="accent2"/>
            </a:solidFill>
            <a:prstDash val="solid"/>
          </a:ln>
        </p:spPr>
      </p:sp>
      <p:sp>
        <p:nvSpPr>
          <p:cNvPr id="19" name="Text 17"/>
          <p:cNvSpPr txBox="1"/>
          <p:nvPr/>
        </p:nvSpPr>
        <p:spPr>
          <a:xfrm>
            <a:off x="8458200" y="2926080"/>
            <a:ext cx="3017520" cy="457200"/>
          </a:xfrm>
          <a:prstGeom prst="rect">
            <a:avLst/>
          </a:prstGeom>
          <a:noFill/>
          <a:ln/>
        </p:spPr>
        <p:txBody>
          <a:bodyPr wrap="square" lIns="0" tIns="0" rIns="0" bIns="0" rtlCol="0" anchor="t"/>
          <a:lstStyle/>
          <a:p>
            <a:pPr indent="0" marL="0">
              <a:buNone/>
            </a:pPr>
            <a:r>
              <a:rPr lang="en-US" sz="2200" b="1" dirty="0">
                <a:solidFill>
                  <a:schemeClr val="bg1"/>
                </a:solidFill>
              </a:rPr>
              <a:t>ML model</a:t>
            </a:r>
            <a:endParaRPr lang="en-US" sz="2200" dirty="0"/>
          </a:p>
        </p:txBody>
      </p:sp>
      <p:sp>
        <p:nvSpPr>
          <p:cNvPr id="20" name="Text 18"/>
          <p:cNvSpPr txBox="1"/>
          <p:nvPr/>
        </p:nvSpPr>
        <p:spPr>
          <a:xfrm>
            <a:off x="8458200" y="3474720"/>
            <a:ext cx="3017520" cy="914400"/>
          </a:xfrm>
          <a:prstGeom prst="rect">
            <a:avLst/>
          </a:prstGeom>
          <a:noFill/>
          <a:ln/>
        </p:spPr>
        <p:txBody>
          <a:bodyPr wrap="square" lIns="0" tIns="0" rIns="0" bIns="0" rtlCol="0" anchor="t"/>
          <a:lstStyle/>
          <a:p>
            <a:pPr indent="0" marL="0">
              <a:buNone/>
            </a:pPr>
            <a:r>
              <a:rPr lang="en-US" sz="1600" dirty="0">
                <a:solidFill>
                  <a:schemeClr val="bg1"/>
                </a:solidFill>
              </a:rPr>
              <a:t>TF-IDF + classifier. Learns from data.</a:t>
            </a:r>
            <a:endParaRPr lang="en-US" sz="1600" dirty="0"/>
          </a:p>
        </p:txBody>
      </p:sp>
      <p:sp>
        <p:nvSpPr>
          <p:cNvPr id="21" name="Arrow"/>
          <p:cNvSpPr/>
          <p:nvPr/>
        </p:nvSpPr>
        <p:spPr>
          <a:xfrm>
            <a:off x="9820656" y="4572000"/>
            <a:ext cx="292608" cy="292608"/>
          </a:xfrm>
          <a:prstGeom prst="downArrow">
            <a:avLst/>
          </a:prstGeom>
          <a:solidFill>
            <a:schemeClr val="accent3"/>
          </a:solidFill>
          <a:ln w="6350">
            <a:solidFill>
              <a:schemeClr val="accent3"/>
            </a:solidFill>
            <a:prstDash val="solid"/>
          </a:ln>
        </p:spPr>
      </p:sp>
      <p:sp>
        <p:nvSpPr>
          <p:cNvPr id="22" name="UI box"/>
          <p:cNvSpPr/>
          <p:nvPr/>
        </p:nvSpPr>
        <p:spPr>
          <a:xfrm>
            <a:off x="640080" y="5029200"/>
            <a:ext cx="11064240" cy="868680"/>
          </a:xfrm>
          <a:prstGeom prst="roundRect">
            <a:avLst>
              <a:gd name="adj" fmla="val 12632"/>
            </a:avLst>
          </a:prstGeom>
          <a:solidFill>
            <a:schemeClr val="accent3"/>
          </a:solidFill>
          <a:ln w="6350">
            <a:solidFill>
              <a:schemeClr val="accent3"/>
            </a:solidFill>
            <a:prstDash val="solid"/>
          </a:ln>
        </p:spPr>
      </p:sp>
      <p:sp>
        <p:nvSpPr>
          <p:cNvPr id="23" name="Text 21"/>
          <p:cNvSpPr txBox="1"/>
          <p:nvPr/>
        </p:nvSpPr>
        <p:spPr>
          <a:xfrm>
            <a:off x="640080" y="5029200"/>
            <a:ext cx="11064240" cy="868680"/>
          </a:xfrm>
          <a:prstGeom prst="rect">
            <a:avLst/>
          </a:prstGeom>
          <a:noFill/>
          <a:ln/>
        </p:spPr>
        <p:txBody>
          <a:bodyPr wrap="square" lIns="0" tIns="0" rIns="0" bIns="0" rtlCol="0" anchor="ctr"/>
          <a:lstStyle/>
          <a:p>
            <a:pPr algn="ctr" indent="0" marL="0">
              <a:buNone/>
            </a:pPr>
            <a:r>
              <a:rPr lang="en-US" sz="1800" b="1" dirty="0">
                <a:solidFill>
                  <a:schemeClr val="tx1"/>
                </a:solidFill>
              </a:rPr>
              <a:t>app.py: Streamlit user interface (home, setup, quiz, results, topic finder, history)</a:t>
            </a:r>
            <a:endParaRPr lang="en-US" sz="18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640080" y="365760"/>
            <a:ext cx="10881360" cy="822960"/>
          </a:xfrm>
          <a:prstGeom prst="rect">
            <a:avLst/>
          </a:prstGeom>
          <a:noFill/>
          <a:ln/>
        </p:spPr>
        <p:txBody>
          <a:bodyPr wrap="square" lIns="0" tIns="0" rIns="0" bIns="0" rtlCol="0" anchor="ctr"/>
          <a:lstStyle/>
          <a:p>
            <a:pPr algn="l" indent="0" marL="0">
              <a:buNone/>
            </a:pPr>
            <a:r>
              <a:rPr lang="en-US" sz="3600" b="1" dirty="0">
                <a:solidFill>
                  <a:schemeClr val="tx1"/>
                </a:solidFill>
              </a:rPr>
              <a:t>Dataset and Preprocessing</a:t>
            </a:r>
            <a:endParaRPr lang="en-US" sz="3600" dirty="0"/>
          </a:p>
        </p:txBody>
      </p:sp>
      <p:sp>
        <p:nvSpPr>
          <p:cNvPr id="3" name="Stat 1"/>
          <p:cNvSpPr/>
          <p:nvPr/>
        </p:nvSpPr>
        <p:spPr>
          <a:xfrm>
            <a:off x="640080" y="1645920"/>
            <a:ext cx="2606040" cy="1920240"/>
          </a:xfrm>
          <a:prstGeom prst="roundRect">
            <a:avLst>
              <a:gd name="adj" fmla="val 5714"/>
            </a:avLst>
          </a:prstGeom>
          <a:solidFill>
            <a:schemeClr val="bg2"/>
          </a:solidFill>
          <a:ln w="6350">
            <a:solidFill>
              <a:schemeClr val="bg2"/>
            </a:solidFill>
            <a:prstDash val="solid"/>
          </a:ln>
        </p:spPr>
      </p:sp>
      <p:sp>
        <p:nvSpPr>
          <p:cNvPr id="4" name="Text 2"/>
          <p:cNvSpPr txBox="1"/>
          <p:nvPr/>
        </p:nvSpPr>
        <p:spPr>
          <a:xfrm>
            <a:off x="640080" y="1828800"/>
            <a:ext cx="2606040" cy="1005840"/>
          </a:xfrm>
          <a:prstGeom prst="rect">
            <a:avLst/>
          </a:prstGeom>
          <a:noFill/>
          <a:ln/>
        </p:spPr>
        <p:txBody>
          <a:bodyPr wrap="square" lIns="0" tIns="0" rIns="0" bIns="0" rtlCol="0" anchor="t"/>
          <a:lstStyle/>
          <a:p>
            <a:pPr algn="ctr" indent="0" marL="0">
              <a:buNone/>
            </a:pPr>
            <a:r>
              <a:rPr lang="en-US" sz="6000" b="1" dirty="0">
                <a:solidFill>
                  <a:schemeClr val="accent1"/>
                </a:solidFill>
              </a:rPr>
              <a:t>75</a:t>
            </a:r>
            <a:endParaRPr lang="en-US" sz="6000" dirty="0"/>
          </a:p>
        </p:txBody>
      </p:sp>
      <p:sp>
        <p:nvSpPr>
          <p:cNvPr id="5" name="Text 3"/>
          <p:cNvSpPr txBox="1"/>
          <p:nvPr/>
        </p:nvSpPr>
        <p:spPr>
          <a:xfrm>
            <a:off x="822960" y="2926080"/>
            <a:ext cx="2240280" cy="548640"/>
          </a:xfrm>
          <a:prstGeom prst="rect">
            <a:avLst/>
          </a:prstGeom>
          <a:noFill/>
          <a:ln/>
        </p:spPr>
        <p:txBody>
          <a:bodyPr wrap="square" lIns="0" tIns="0" rIns="0" bIns="0" rtlCol="0" anchor="t"/>
          <a:lstStyle/>
          <a:p>
            <a:pPr algn="ctr" indent="0" marL="0">
              <a:buNone/>
            </a:pPr>
            <a:r>
              <a:rPr lang="en-US" sz="1600" dirty="0">
                <a:solidFill>
                  <a:schemeClr val="tx1"/>
                </a:solidFill>
              </a:rPr>
              <a:t>curated MCQs</a:t>
            </a:r>
            <a:endParaRPr lang="en-US" sz="1600" dirty="0"/>
          </a:p>
        </p:txBody>
      </p:sp>
      <p:sp>
        <p:nvSpPr>
          <p:cNvPr id="6" name="Stat 2"/>
          <p:cNvSpPr/>
          <p:nvPr/>
        </p:nvSpPr>
        <p:spPr>
          <a:xfrm>
            <a:off x="3520440" y="1645920"/>
            <a:ext cx="2606040" cy="1920240"/>
          </a:xfrm>
          <a:prstGeom prst="roundRect">
            <a:avLst>
              <a:gd name="adj" fmla="val 5714"/>
            </a:avLst>
          </a:prstGeom>
          <a:solidFill>
            <a:schemeClr val="bg2"/>
          </a:solidFill>
          <a:ln w="6350">
            <a:solidFill>
              <a:schemeClr val="bg2"/>
            </a:solidFill>
            <a:prstDash val="solid"/>
          </a:ln>
        </p:spPr>
      </p:sp>
      <p:sp>
        <p:nvSpPr>
          <p:cNvPr id="7" name="Text 5"/>
          <p:cNvSpPr txBox="1"/>
          <p:nvPr/>
        </p:nvSpPr>
        <p:spPr>
          <a:xfrm>
            <a:off x="3520440" y="1828800"/>
            <a:ext cx="2606040" cy="1005840"/>
          </a:xfrm>
          <a:prstGeom prst="rect">
            <a:avLst/>
          </a:prstGeom>
          <a:noFill/>
          <a:ln/>
        </p:spPr>
        <p:txBody>
          <a:bodyPr wrap="square" lIns="0" tIns="0" rIns="0" bIns="0" rtlCol="0" anchor="t"/>
          <a:lstStyle/>
          <a:p>
            <a:pPr algn="ctr" indent="0" marL="0">
              <a:buNone/>
            </a:pPr>
            <a:r>
              <a:rPr lang="en-US" sz="6000" b="1" dirty="0">
                <a:solidFill>
                  <a:schemeClr val="accent2"/>
                </a:solidFill>
              </a:rPr>
              <a:t>140</a:t>
            </a:r>
            <a:endParaRPr lang="en-US" sz="6000" dirty="0"/>
          </a:p>
        </p:txBody>
      </p:sp>
      <p:sp>
        <p:nvSpPr>
          <p:cNvPr id="8" name="Text 6"/>
          <p:cNvSpPr txBox="1"/>
          <p:nvPr/>
        </p:nvSpPr>
        <p:spPr>
          <a:xfrm>
            <a:off x="3703320" y="2926080"/>
            <a:ext cx="2240280" cy="548640"/>
          </a:xfrm>
          <a:prstGeom prst="rect">
            <a:avLst/>
          </a:prstGeom>
          <a:noFill/>
          <a:ln/>
        </p:spPr>
        <p:txBody>
          <a:bodyPr wrap="square" lIns="0" tIns="0" rIns="0" bIns="0" rtlCol="0" anchor="t"/>
          <a:lstStyle/>
          <a:p>
            <a:pPr algn="ctr" indent="0" marL="0">
              <a:buNone/>
            </a:pPr>
            <a:r>
              <a:rPr lang="en-US" sz="1600" dirty="0">
                <a:solidFill>
                  <a:schemeClr val="tx1"/>
                </a:solidFill>
              </a:rPr>
              <a:t>labelled learning queries</a:t>
            </a:r>
            <a:endParaRPr lang="en-US" sz="1600" dirty="0"/>
          </a:p>
        </p:txBody>
      </p:sp>
      <p:sp>
        <p:nvSpPr>
          <p:cNvPr id="9" name="Stat 3"/>
          <p:cNvSpPr/>
          <p:nvPr/>
        </p:nvSpPr>
        <p:spPr>
          <a:xfrm>
            <a:off x="640080" y="3794760"/>
            <a:ext cx="2606040" cy="1920240"/>
          </a:xfrm>
          <a:prstGeom prst="roundRect">
            <a:avLst>
              <a:gd name="adj" fmla="val 5714"/>
            </a:avLst>
          </a:prstGeom>
          <a:solidFill>
            <a:schemeClr val="bg2"/>
          </a:solidFill>
          <a:ln w="6350">
            <a:solidFill>
              <a:schemeClr val="bg2"/>
            </a:solidFill>
            <a:prstDash val="solid"/>
          </a:ln>
        </p:spPr>
      </p:sp>
      <p:sp>
        <p:nvSpPr>
          <p:cNvPr id="10" name="Text 8"/>
          <p:cNvSpPr txBox="1"/>
          <p:nvPr/>
        </p:nvSpPr>
        <p:spPr>
          <a:xfrm>
            <a:off x="640080" y="3977640"/>
            <a:ext cx="2606040" cy="1005840"/>
          </a:xfrm>
          <a:prstGeom prst="rect">
            <a:avLst/>
          </a:prstGeom>
          <a:noFill/>
          <a:ln/>
        </p:spPr>
        <p:txBody>
          <a:bodyPr wrap="square" lIns="0" tIns="0" rIns="0" bIns="0" rtlCol="0" anchor="t"/>
          <a:lstStyle/>
          <a:p>
            <a:pPr algn="ctr" indent="0" marL="0">
              <a:buNone/>
            </a:pPr>
            <a:r>
              <a:rPr lang="en-US" sz="6000" b="1" dirty="0">
                <a:solidFill>
                  <a:schemeClr val="accent2"/>
                </a:solidFill>
              </a:rPr>
              <a:t>28</a:t>
            </a:r>
            <a:endParaRPr lang="en-US" sz="6000" dirty="0"/>
          </a:p>
        </p:txBody>
      </p:sp>
      <p:sp>
        <p:nvSpPr>
          <p:cNvPr id="11" name="Text 9"/>
          <p:cNvSpPr txBox="1"/>
          <p:nvPr/>
        </p:nvSpPr>
        <p:spPr>
          <a:xfrm>
            <a:off x="822960" y="5074920"/>
            <a:ext cx="2240280" cy="548640"/>
          </a:xfrm>
          <a:prstGeom prst="rect">
            <a:avLst/>
          </a:prstGeom>
          <a:noFill/>
          <a:ln/>
        </p:spPr>
        <p:txBody>
          <a:bodyPr wrap="square" lIns="0" tIns="0" rIns="0" bIns="0" rtlCol="0" anchor="t"/>
          <a:lstStyle/>
          <a:p>
            <a:pPr algn="ctr" indent="0" marL="0">
              <a:buNone/>
            </a:pPr>
            <a:r>
              <a:rPr lang="en-US" sz="1600" dirty="0">
                <a:solidFill>
                  <a:schemeClr val="tx1"/>
                </a:solidFill>
              </a:rPr>
              <a:t>queries per topic</a:t>
            </a:r>
            <a:endParaRPr lang="en-US" sz="1600" dirty="0"/>
          </a:p>
        </p:txBody>
      </p:sp>
      <p:sp>
        <p:nvSpPr>
          <p:cNvPr id="12" name="Stat 4"/>
          <p:cNvSpPr/>
          <p:nvPr/>
        </p:nvSpPr>
        <p:spPr>
          <a:xfrm>
            <a:off x="3520440" y="3794760"/>
            <a:ext cx="2606040" cy="1920240"/>
          </a:xfrm>
          <a:prstGeom prst="roundRect">
            <a:avLst>
              <a:gd name="adj" fmla="val 5714"/>
            </a:avLst>
          </a:prstGeom>
          <a:solidFill>
            <a:schemeClr val="bg2"/>
          </a:solidFill>
          <a:ln w="6350">
            <a:solidFill>
              <a:schemeClr val="bg2"/>
            </a:solidFill>
            <a:prstDash val="solid"/>
          </a:ln>
        </p:spPr>
      </p:sp>
      <p:sp>
        <p:nvSpPr>
          <p:cNvPr id="13" name="Text 11"/>
          <p:cNvSpPr txBox="1"/>
          <p:nvPr/>
        </p:nvSpPr>
        <p:spPr>
          <a:xfrm>
            <a:off x="3520440" y="3977640"/>
            <a:ext cx="2606040" cy="1005840"/>
          </a:xfrm>
          <a:prstGeom prst="rect">
            <a:avLst/>
          </a:prstGeom>
          <a:noFill/>
          <a:ln/>
        </p:spPr>
        <p:txBody>
          <a:bodyPr wrap="square" lIns="0" tIns="0" rIns="0" bIns="0" rtlCol="0" anchor="t"/>
          <a:lstStyle/>
          <a:p>
            <a:pPr algn="ctr" indent="0" marL="0">
              <a:buNone/>
            </a:pPr>
            <a:r>
              <a:rPr lang="en-US" sz="6000" b="1" dirty="0">
                <a:solidFill>
                  <a:schemeClr val="accent1"/>
                </a:solidFill>
              </a:rPr>
              <a:t>5</a:t>
            </a:r>
            <a:endParaRPr lang="en-US" sz="6000" dirty="0"/>
          </a:p>
        </p:txBody>
      </p:sp>
      <p:sp>
        <p:nvSpPr>
          <p:cNvPr id="14" name="Text 12"/>
          <p:cNvSpPr txBox="1"/>
          <p:nvPr/>
        </p:nvSpPr>
        <p:spPr>
          <a:xfrm>
            <a:off x="3703320" y="5074920"/>
            <a:ext cx="2240280" cy="548640"/>
          </a:xfrm>
          <a:prstGeom prst="rect">
            <a:avLst/>
          </a:prstGeom>
          <a:noFill/>
          <a:ln/>
        </p:spPr>
        <p:txBody>
          <a:bodyPr wrap="square" lIns="0" tIns="0" rIns="0" bIns="0" rtlCol="0" anchor="t"/>
          <a:lstStyle/>
          <a:p>
            <a:pPr algn="ctr" indent="0" marL="0">
              <a:buNone/>
            </a:pPr>
            <a:r>
              <a:rPr lang="en-US" sz="1600" dirty="0">
                <a:solidFill>
                  <a:schemeClr val="tx1"/>
                </a:solidFill>
              </a:rPr>
              <a:t>topics</a:t>
            </a:r>
            <a:endParaRPr lang="en-US" sz="1600" dirty="0"/>
          </a:p>
        </p:txBody>
      </p:sp>
      <p:sp>
        <p:nvSpPr>
          <p:cNvPr id="15" name="Preprocessing card"/>
          <p:cNvSpPr/>
          <p:nvPr/>
        </p:nvSpPr>
        <p:spPr>
          <a:xfrm>
            <a:off x="6492240" y="1645920"/>
            <a:ext cx="5212080" cy="4069080"/>
          </a:xfrm>
          <a:prstGeom prst="roundRect">
            <a:avLst>
              <a:gd name="adj" fmla="val 2697"/>
            </a:avLst>
          </a:prstGeom>
          <a:solidFill>
            <a:schemeClr val="bg2"/>
          </a:solidFill>
          <a:ln w="6350">
            <a:solidFill>
              <a:schemeClr val="bg2"/>
            </a:solidFill>
            <a:prstDash val="solid"/>
          </a:ln>
        </p:spPr>
      </p:sp>
      <p:sp>
        <p:nvSpPr>
          <p:cNvPr id="16" name="Text 14"/>
          <p:cNvSpPr txBox="1"/>
          <p:nvPr/>
        </p:nvSpPr>
        <p:spPr>
          <a:xfrm>
            <a:off x="6766560" y="1874520"/>
            <a:ext cx="4663440" cy="457200"/>
          </a:xfrm>
          <a:prstGeom prst="rect">
            <a:avLst/>
          </a:prstGeom>
          <a:noFill/>
          <a:ln/>
        </p:spPr>
        <p:txBody>
          <a:bodyPr wrap="square" lIns="0" tIns="0" rIns="0" bIns="0" rtlCol="0" anchor="t"/>
          <a:lstStyle/>
          <a:p>
            <a:pPr indent="0" marL="0">
              <a:buNone/>
            </a:pPr>
            <a:r>
              <a:rPr lang="en-US" sz="2200" b="1" dirty="0">
                <a:solidFill>
                  <a:schemeClr val="tx1"/>
                </a:solidFill>
              </a:rPr>
              <a:t>Preprocessing</a:t>
            </a:r>
            <a:endParaRPr lang="en-US" sz="2200" dirty="0"/>
          </a:p>
        </p:txBody>
      </p:sp>
      <p:sp>
        <p:nvSpPr>
          <p:cNvPr id="17" name="Text 15"/>
          <p:cNvSpPr txBox="1"/>
          <p:nvPr/>
        </p:nvSpPr>
        <p:spPr>
          <a:xfrm>
            <a:off x="6766560" y="2514600"/>
            <a:ext cx="4663440" cy="301752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chemeClr val="tx1"/>
                </a:solidFill>
              </a:rPr>
              <a:t>Trim whitespace and drop empty rows</a:t>
            </a:r>
            <a:endParaRPr lang="en-US" sz="1600" dirty="0"/>
          </a:p>
          <a:p>
            <a:pPr marL="342900" indent="-342900">
              <a:spcAft>
                <a:spcPts val="600"/>
              </a:spcAft>
              <a:buSzPct val="100000"/>
              <a:buChar char="•"/>
            </a:pPr>
            <a:r>
              <a:rPr lang="en-US" sz="1600" dirty="0">
                <a:solidFill>
                  <a:schemeClr val="tx1"/>
                </a:solidFill>
              </a:rPr>
              <a:t>Remove duplicate sentences to avoid leakage</a:t>
            </a:r>
            <a:endParaRPr lang="en-US" sz="1600" dirty="0"/>
          </a:p>
          <a:p>
            <a:pPr marL="342900" indent="-342900">
              <a:spcAft>
                <a:spcPts val="600"/>
              </a:spcAft>
              <a:buSzPct val="100000"/>
              <a:buChar char="•"/>
            </a:pPr>
            <a:r>
              <a:rPr lang="en-US" sz="1600" dirty="0">
                <a:solidFill>
                  <a:schemeClr val="tx1"/>
                </a:solidFill>
              </a:rPr>
              <a:t>Lowercase text, remove English stop words</a:t>
            </a:r>
            <a:endParaRPr lang="en-US" sz="1600" dirty="0"/>
          </a:p>
          <a:p>
            <a:pPr marL="342900" indent="-342900">
              <a:spcAft>
                <a:spcPts val="600"/>
              </a:spcAft>
              <a:buSzPct val="100000"/>
              <a:buChar char="•"/>
            </a:pPr>
            <a:r>
              <a:rPr lang="en-US" sz="1600" dirty="0">
                <a:solidFill>
                  <a:schemeClr val="tx1"/>
                </a:solidFill>
              </a:rPr>
              <a:t>Use unigrams and bigrams</a:t>
            </a:r>
            <a:endParaRPr lang="en-US" sz="1600" dirty="0"/>
          </a:p>
          <a:p>
            <a:pPr marL="342900" indent="-342900">
              <a:spcAft>
                <a:spcPts val="600"/>
              </a:spcAft>
              <a:buSzPct val="100000"/>
              <a:buChar char="•"/>
            </a:pPr>
            <a:r>
              <a:rPr lang="en-US" sz="1600" dirty="0">
                <a:solidFill>
                  <a:schemeClr val="tx1"/>
                </a:solidFill>
              </a:rPr>
              <a:t>Dataset is small and hand-written by me</a:t>
            </a:r>
            <a:endParaRPr lang="en-US" sz="16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640080" y="365760"/>
            <a:ext cx="10881360" cy="822960"/>
          </a:xfrm>
          <a:prstGeom prst="rect">
            <a:avLst/>
          </a:prstGeom>
          <a:noFill/>
          <a:ln/>
        </p:spPr>
        <p:txBody>
          <a:bodyPr wrap="square" lIns="0" tIns="0" rIns="0" bIns="0" rtlCol="0" anchor="ctr"/>
          <a:lstStyle/>
          <a:p>
            <a:pPr algn="l" indent="0" marL="0">
              <a:buNone/>
            </a:pPr>
            <a:r>
              <a:rPr lang="en-US" sz="3600" b="1" dirty="0">
                <a:solidFill>
                  <a:schemeClr val="tx1"/>
                </a:solidFill>
              </a:rPr>
              <a:t>Machine Learning Methodology</a:t>
            </a:r>
            <a:endParaRPr lang="en-US" sz="3600" dirty="0"/>
          </a:p>
        </p:txBody>
      </p:sp>
      <p:sp>
        <p:nvSpPr>
          <p:cNvPr id="3" name="Pipeline 1"/>
          <p:cNvSpPr/>
          <p:nvPr/>
        </p:nvSpPr>
        <p:spPr>
          <a:xfrm>
            <a:off x="640080" y="1554480"/>
            <a:ext cx="2377440" cy="1234440"/>
          </a:xfrm>
          <a:prstGeom prst="roundRect">
            <a:avLst>
              <a:gd name="adj" fmla="val 8889"/>
            </a:avLst>
          </a:prstGeom>
          <a:solidFill>
            <a:schemeClr val="tx1"/>
          </a:solidFill>
          <a:ln w="6350">
            <a:solidFill>
              <a:schemeClr val="tx1"/>
            </a:solidFill>
            <a:prstDash val="solid"/>
          </a:ln>
        </p:spPr>
      </p:sp>
      <p:sp>
        <p:nvSpPr>
          <p:cNvPr id="4" name="Text 2"/>
          <p:cNvSpPr txBox="1"/>
          <p:nvPr/>
        </p:nvSpPr>
        <p:spPr>
          <a:xfrm>
            <a:off x="777240" y="1554480"/>
            <a:ext cx="2103120" cy="1234440"/>
          </a:xfrm>
          <a:prstGeom prst="rect">
            <a:avLst/>
          </a:prstGeom>
          <a:noFill/>
          <a:ln/>
        </p:spPr>
        <p:txBody>
          <a:bodyPr wrap="square" lIns="0" tIns="0" rIns="0" bIns="0" rtlCol="0" anchor="ctr"/>
          <a:lstStyle/>
          <a:p>
            <a:pPr algn="ctr" indent="0" marL="0">
              <a:buNone/>
            </a:pPr>
            <a:r>
              <a:rPr lang="en-US" sz="1700" b="1" dirty="0">
                <a:solidFill>
                  <a:schemeClr val="bg1"/>
                </a:solidFill>
              </a:rPr>
              <a:t>Student text</a:t>
            </a:r>
            <a:endParaRPr lang="en-US" sz="1700" dirty="0"/>
          </a:p>
        </p:txBody>
      </p:sp>
      <p:sp>
        <p:nvSpPr>
          <p:cNvPr id="5" name="Arrow"/>
          <p:cNvSpPr/>
          <p:nvPr/>
        </p:nvSpPr>
        <p:spPr>
          <a:xfrm>
            <a:off x="3054096" y="2011680"/>
            <a:ext cx="292608" cy="292608"/>
          </a:xfrm>
          <a:prstGeom prst="rightArrow">
            <a:avLst/>
          </a:prstGeom>
          <a:solidFill>
            <a:schemeClr val="accent3"/>
          </a:solidFill>
          <a:ln w="6350">
            <a:solidFill>
              <a:schemeClr val="accent3"/>
            </a:solidFill>
            <a:prstDash val="solid"/>
          </a:ln>
        </p:spPr>
      </p:sp>
      <p:sp>
        <p:nvSpPr>
          <p:cNvPr id="6" name="Pipeline 2"/>
          <p:cNvSpPr/>
          <p:nvPr/>
        </p:nvSpPr>
        <p:spPr>
          <a:xfrm>
            <a:off x="3474720" y="1554480"/>
            <a:ext cx="2377440" cy="1234440"/>
          </a:xfrm>
          <a:prstGeom prst="roundRect">
            <a:avLst>
              <a:gd name="adj" fmla="val 8889"/>
            </a:avLst>
          </a:prstGeom>
          <a:solidFill>
            <a:schemeClr val="accent1"/>
          </a:solidFill>
          <a:ln w="6350">
            <a:solidFill>
              <a:schemeClr val="accent1"/>
            </a:solidFill>
            <a:prstDash val="solid"/>
          </a:ln>
        </p:spPr>
      </p:sp>
      <p:sp>
        <p:nvSpPr>
          <p:cNvPr id="7" name="Text 5"/>
          <p:cNvSpPr txBox="1"/>
          <p:nvPr/>
        </p:nvSpPr>
        <p:spPr>
          <a:xfrm>
            <a:off x="3611880" y="1554480"/>
            <a:ext cx="2103120" cy="1234440"/>
          </a:xfrm>
          <a:prstGeom prst="rect">
            <a:avLst/>
          </a:prstGeom>
          <a:noFill/>
          <a:ln/>
        </p:spPr>
        <p:txBody>
          <a:bodyPr wrap="square" lIns="0" tIns="0" rIns="0" bIns="0" rtlCol="0" anchor="ctr"/>
          <a:lstStyle/>
          <a:p>
            <a:pPr algn="ctr" indent="0" marL="0">
              <a:buNone/>
            </a:pPr>
            <a:r>
              <a:rPr lang="en-US" sz="1700" b="1" dirty="0">
                <a:solidFill>
                  <a:schemeClr val="bg1"/>
                </a:solidFill>
              </a:rPr>
              <a:t>TF-IDF</a:t>
            </a:r>
            <a:endParaRPr lang="en-US" sz="1700" dirty="0"/>
          </a:p>
        </p:txBody>
      </p:sp>
      <p:sp>
        <p:nvSpPr>
          <p:cNvPr id="8" name="Arrow"/>
          <p:cNvSpPr/>
          <p:nvPr/>
        </p:nvSpPr>
        <p:spPr>
          <a:xfrm>
            <a:off x="5888736" y="2011680"/>
            <a:ext cx="292608" cy="292608"/>
          </a:xfrm>
          <a:prstGeom prst="rightArrow">
            <a:avLst/>
          </a:prstGeom>
          <a:solidFill>
            <a:schemeClr val="accent3"/>
          </a:solidFill>
          <a:ln w="6350">
            <a:solidFill>
              <a:schemeClr val="accent3"/>
            </a:solidFill>
            <a:prstDash val="solid"/>
          </a:ln>
        </p:spPr>
      </p:sp>
      <p:sp>
        <p:nvSpPr>
          <p:cNvPr id="9" name="Pipeline 3"/>
          <p:cNvSpPr/>
          <p:nvPr/>
        </p:nvSpPr>
        <p:spPr>
          <a:xfrm>
            <a:off x="6309360" y="1554480"/>
            <a:ext cx="2377440" cy="1234440"/>
          </a:xfrm>
          <a:prstGeom prst="roundRect">
            <a:avLst>
              <a:gd name="adj" fmla="val 8889"/>
            </a:avLst>
          </a:prstGeom>
          <a:solidFill>
            <a:schemeClr val="accent1"/>
          </a:solidFill>
          <a:ln w="6350">
            <a:solidFill>
              <a:schemeClr val="accent1"/>
            </a:solidFill>
            <a:prstDash val="solid"/>
          </a:ln>
        </p:spPr>
      </p:sp>
      <p:sp>
        <p:nvSpPr>
          <p:cNvPr id="10" name="Text 8"/>
          <p:cNvSpPr txBox="1"/>
          <p:nvPr/>
        </p:nvSpPr>
        <p:spPr>
          <a:xfrm>
            <a:off x="6446520" y="1554480"/>
            <a:ext cx="2103120" cy="1234440"/>
          </a:xfrm>
          <a:prstGeom prst="rect">
            <a:avLst/>
          </a:prstGeom>
          <a:noFill/>
          <a:ln/>
        </p:spPr>
        <p:txBody>
          <a:bodyPr wrap="square" lIns="0" tIns="0" rIns="0" bIns="0" rtlCol="0" anchor="ctr"/>
          <a:lstStyle/>
          <a:p>
            <a:pPr algn="ctr" indent="0" marL="0">
              <a:buNone/>
            </a:pPr>
            <a:r>
              <a:rPr lang="en-US" sz="1700" b="1" dirty="0">
                <a:solidFill>
                  <a:schemeClr val="bg1"/>
                </a:solidFill>
              </a:rPr>
              <a:t>Logistic Regression or Naive Bayes</a:t>
            </a:r>
            <a:endParaRPr lang="en-US" sz="1700" dirty="0"/>
          </a:p>
        </p:txBody>
      </p:sp>
      <p:sp>
        <p:nvSpPr>
          <p:cNvPr id="11" name="Arrow"/>
          <p:cNvSpPr/>
          <p:nvPr/>
        </p:nvSpPr>
        <p:spPr>
          <a:xfrm>
            <a:off x="8723376" y="2011680"/>
            <a:ext cx="292608" cy="292608"/>
          </a:xfrm>
          <a:prstGeom prst="rightArrow">
            <a:avLst/>
          </a:prstGeom>
          <a:solidFill>
            <a:schemeClr val="accent3"/>
          </a:solidFill>
          <a:ln w="6350">
            <a:solidFill>
              <a:schemeClr val="accent3"/>
            </a:solidFill>
            <a:prstDash val="solid"/>
          </a:ln>
        </p:spPr>
      </p:sp>
      <p:sp>
        <p:nvSpPr>
          <p:cNvPr id="12" name="Pipeline 4"/>
          <p:cNvSpPr/>
          <p:nvPr/>
        </p:nvSpPr>
        <p:spPr>
          <a:xfrm>
            <a:off x="9144000" y="1554480"/>
            <a:ext cx="2377440" cy="1234440"/>
          </a:xfrm>
          <a:prstGeom prst="roundRect">
            <a:avLst>
              <a:gd name="adj" fmla="val 8889"/>
            </a:avLst>
          </a:prstGeom>
          <a:solidFill>
            <a:schemeClr val="accent3"/>
          </a:solidFill>
          <a:ln w="6350">
            <a:solidFill>
              <a:schemeClr val="accent3"/>
            </a:solidFill>
            <a:prstDash val="solid"/>
          </a:ln>
        </p:spPr>
      </p:sp>
      <p:sp>
        <p:nvSpPr>
          <p:cNvPr id="13" name="Text 11"/>
          <p:cNvSpPr txBox="1"/>
          <p:nvPr/>
        </p:nvSpPr>
        <p:spPr>
          <a:xfrm>
            <a:off x="9281160" y="1554480"/>
            <a:ext cx="2103120" cy="1234440"/>
          </a:xfrm>
          <a:prstGeom prst="rect">
            <a:avLst/>
          </a:prstGeom>
          <a:noFill/>
          <a:ln/>
        </p:spPr>
        <p:txBody>
          <a:bodyPr wrap="square" lIns="0" tIns="0" rIns="0" bIns="0" rtlCol="0" anchor="ctr"/>
          <a:lstStyle/>
          <a:p>
            <a:pPr algn="ctr" indent="0" marL="0">
              <a:buNone/>
            </a:pPr>
            <a:r>
              <a:rPr lang="en-US" sz="1700" b="1" dirty="0">
                <a:solidFill>
                  <a:schemeClr val="tx1"/>
                </a:solidFill>
              </a:rPr>
              <a:t>Topic + confidence</a:t>
            </a:r>
            <a:endParaRPr lang="en-US" sz="1700" dirty="0"/>
          </a:p>
        </p:txBody>
      </p:sp>
      <p:sp>
        <p:nvSpPr>
          <p:cNvPr id="14" name="Method card 1"/>
          <p:cNvSpPr/>
          <p:nvPr/>
        </p:nvSpPr>
        <p:spPr>
          <a:xfrm>
            <a:off x="640080" y="3154680"/>
            <a:ext cx="3474720" cy="2743200"/>
          </a:xfrm>
          <a:prstGeom prst="roundRect">
            <a:avLst>
              <a:gd name="adj" fmla="val 4000"/>
            </a:avLst>
          </a:prstGeom>
          <a:solidFill>
            <a:schemeClr val="bg2"/>
          </a:solidFill>
          <a:ln w="6350">
            <a:solidFill>
              <a:schemeClr val="bg2"/>
            </a:solidFill>
            <a:prstDash val="solid"/>
          </a:ln>
        </p:spPr>
      </p:sp>
      <p:sp>
        <p:nvSpPr>
          <p:cNvPr id="15" name="Text 13"/>
          <p:cNvSpPr txBox="1"/>
          <p:nvPr/>
        </p:nvSpPr>
        <p:spPr>
          <a:xfrm>
            <a:off x="914400" y="3337560"/>
            <a:ext cx="2926080" cy="457200"/>
          </a:xfrm>
          <a:prstGeom prst="rect">
            <a:avLst/>
          </a:prstGeom>
          <a:noFill/>
          <a:ln/>
        </p:spPr>
        <p:txBody>
          <a:bodyPr wrap="square" lIns="0" tIns="0" rIns="0" bIns="0" rtlCol="0" anchor="t"/>
          <a:lstStyle/>
          <a:p>
            <a:pPr indent="0" marL="0">
              <a:buNone/>
            </a:pPr>
            <a:r>
              <a:rPr lang="en-US" sz="2200" b="1" dirty="0">
                <a:solidFill>
                  <a:schemeClr val="tx1"/>
                </a:solidFill>
              </a:rPr>
              <a:t>Split</a:t>
            </a:r>
            <a:endParaRPr lang="en-US" sz="2200" dirty="0"/>
          </a:p>
        </p:txBody>
      </p:sp>
      <p:sp>
        <p:nvSpPr>
          <p:cNvPr id="16" name="Text 14"/>
          <p:cNvSpPr txBox="1"/>
          <p:nvPr/>
        </p:nvSpPr>
        <p:spPr>
          <a:xfrm>
            <a:off x="914400" y="3931920"/>
            <a:ext cx="3017520" cy="182880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chemeClr val="tx1"/>
                </a:solidFill>
              </a:rPr>
              <a:t>Stratified 80/20 train/test</a:t>
            </a:r>
            <a:endParaRPr lang="en-US" sz="1600" dirty="0"/>
          </a:p>
          <a:p>
            <a:pPr marL="342900" indent="-342900">
              <a:spcAft>
                <a:spcPts val="600"/>
              </a:spcAft>
              <a:buSzPct val="100000"/>
              <a:buChar char="•"/>
            </a:pPr>
            <a:r>
              <a:rPr lang="en-US" sz="1600" dirty="0">
                <a:solidFill>
                  <a:schemeClr val="tx1"/>
                </a:solidFill>
              </a:rPr>
              <a:t>Fixed seed 42</a:t>
            </a:r>
            <a:endParaRPr lang="en-US" sz="1600" dirty="0"/>
          </a:p>
          <a:p>
            <a:pPr marL="342900" indent="-342900">
              <a:spcAft>
                <a:spcPts val="600"/>
              </a:spcAft>
              <a:buSzPct val="100000"/>
              <a:buChar char="•"/>
            </a:pPr>
            <a:r>
              <a:rPr lang="en-US" sz="1600" dirty="0">
                <a:solidFill>
                  <a:schemeClr val="tx1"/>
                </a:solidFill>
              </a:rPr>
              <a:t>Test set used once</a:t>
            </a:r>
            <a:endParaRPr lang="en-US" sz="1600" dirty="0"/>
          </a:p>
        </p:txBody>
      </p:sp>
      <p:sp>
        <p:nvSpPr>
          <p:cNvPr id="17" name="Method card 2"/>
          <p:cNvSpPr/>
          <p:nvPr/>
        </p:nvSpPr>
        <p:spPr>
          <a:xfrm>
            <a:off x="4434840" y="3154680"/>
            <a:ext cx="3474720" cy="2743200"/>
          </a:xfrm>
          <a:prstGeom prst="roundRect">
            <a:avLst>
              <a:gd name="adj" fmla="val 4000"/>
            </a:avLst>
          </a:prstGeom>
          <a:solidFill>
            <a:schemeClr val="bg2"/>
          </a:solidFill>
          <a:ln w="6350">
            <a:solidFill>
              <a:schemeClr val="bg2"/>
            </a:solidFill>
            <a:prstDash val="solid"/>
          </a:ln>
        </p:spPr>
      </p:sp>
      <p:sp>
        <p:nvSpPr>
          <p:cNvPr id="18" name="Text 16"/>
          <p:cNvSpPr txBox="1"/>
          <p:nvPr/>
        </p:nvSpPr>
        <p:spPr>
          <a:xfrm>
            <a:off x="4709160" y="3337560"/>
            <a:ext cx="2926080" cy="457200"/>
          </a:xfrm>
          <a:prstGeom prst="rect">
            <a:avLst/>
          </a:prstGeom>
          <a:noFill/>
          <a:ln/>
        </p:spPr>
        <p:txBody>
          <a:bodyPr wrap="square" lIns="0" tIns="0" rIns="0" bIns="0" rtlCol="0" anchor="t"/>
          <a:lstStyle/>
          <a:p>
            <a:pPr indent="0" marL="0">
              <a:buNone/>
            </a:pPr>
            <a:r>
              <a:rPr lang="en-US" sz="2200" b="1" dirty="0">
                <a:solidFill>
                  <a:schemeClr val="tx1"/>
                </a:solidFill>
              </a:rPr>
              <a:t>Model choice</a:t>
            </a:r>
            <a:endParaRPr lang="en-US" sz="2200" dirty="0"/>
          </a:p>
        </p:txBody>
      </p:sp>
      <p:sp>
        <p:nvSpPr>
          <p:cNvPr id="19" name="Text 17"/>
          <p:cNvSpPr txBox="1"/>
          <p:nvPr/>
        </p:nvSpPr>
        <p:spPr>
          <a:xfrm>
            <a:off x="4709160" y="3931920"/>
            <a:ext cx="3017520" cy="182880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chemeClr val="tx1"/>
                </a:solidFill>
              </a:rPr>
              <a:t>5-fold cross-validation</a:t>
            </a:r>
            <a:endParaRPr lang="en-US" sz="1600" dirty="0"/>
          </a:p>
          <a:p>
            <a:pPr marL="342900" indent="-342900">
              <a:spcAft>
                <a:spcPts val="600"/>
              </a:spcAft>
              <a:buSzPct val="100000"/>
              <a:buChar char="•"/>
            </a:pPr>
            <a:r>
              <a:rPr lang="en-US" sz="1600" dirty="0">
                <a:solidFill>
                  <a:schemeClr val="tx1"/>
                </a:solidFill>
              </a:rPr>
              <a:t>On the training set only</a:t>
            </a:r>
            <a:endParaRPr lang="en-US" sz="1600" dirty="0"/>
          </a:p>
          <a:p>
            <a:pPr marL="342900" indent="-342900">
              <a:spcAft>
                <a:spcPts val="600"/>
              </a:spcAft>
              <a:buSzPct val="100000"/>
              <a:buChar char="•"/>
            </a:pPr>
            <a:r>
              <a:rPr lang="en-US" sz="1600" dirty="0">
                <a:solidFill>
                  <a:schemeClr val="tx1"/>
                </a:solidFill>
              </a:rPr>
              <a:t>Best candidate is kept</a:t>
            </a:r>
            <a:endParaRPr lang="en-US" sz="1600" dirty="0"/>
          </a:p>
        </p:txBody>
      </p:sp>
      <p:sp>
        <p:nvSpPr>
          <p:cNvPr id="20" name="Method card 3"/>
          <p:cNvSpPr/>
          <p:nvPr/>
        </p:nvSpPr>
        <p:spPr>
          <a:xfrm>
            <a:off x="8229600" y="3154680"/>
            <a:ext cx="3474720" cy="2743200"/>
          </a:xfrm>
          <a:prstGeom prst="roundRect">
            <a:avLst>
              <a:gd name="adj" fmla="val 4000"/>
            </a:avLst>
          </a:prstGeom>
          <a:solidFill>
            <a:schemeClr val="bg2"/>
          </a:solidFill>
          <a:ln w="6350">
            <a:solidFill>
              <a:schemeClr val="bg2"/>
            </a:solidFill>
            <a:prstDash val="solid"/>
          </a:ln>
        </p:spPr>
      </p:sp>
      <p:sp>
        <p:nvSpPr>
          <p:cNvPr id="21" name="Text 19"/>
          <p:cNvSpPr txBox="1"/>
          <p:nvPr/>
        </p:nvSpPr>
        <p:spPr>
          <a:xfrm>
            <a:off x="8503920" y="3337560"/>
            <a:ext cx="2926080" cy="457200"/>
          </a:xfrm>
          <a:prstGeom prst="rect">
            <a:avLst/>
          </a:prstGeom>
          <a:noFill/>
          <a:ln/>
        </p:spPr>
        <p:txBody>
          <a:bodyPr wrap="square" lIns="0" tIns="0" rIns="0" bIns="0" rtlCol="0" anchor="t"/>
          <a:lstStyle/>
          <a:p>
            <a:pPr indent="0" marL="0">
              <a:buNone/>
            </a:pPr>
            <a:r>
              <a:rPr lang="en-US" sz="2200" b="1" dirty="0">
                <a:solidFill>
                  <a:schemeClr val="tx1"/>
                </a:solidFill>
              </a:rPr>
              <a:t>Safeguards</a:t>
            </a:r>
            <a:endParaRPr lang="en-US" sz="2200" dirty="0"/>
          </a:p>
        </p:txBody>
      </p:sp>
      <p:sp>
        <p:nvSpPr>
          <p:cNvPr id="22" name="Text 20"/>
          <p:cNvSpPr txBox="1"/>
          <p:nvPr/>
        </p:nvSpPr>
        <p:spPr>
          <a:xfrm>
            <a:off x="8503920" y="3931920"/>
            <a:ext cx="3017520" cy="182880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chemeClr val="tx1"/>
                </a:solidFill>
              </a:rPr>
              <a:t>Duplicates removed</a:t>
            </a:r>
            <a:endParaRPr lang="en-US" sz="1600" dirty="0"/>
          </a:p>
          <a:p>
            <a:pPr marL="342900" indent="-342900">
              <a:spcAft>
                <a:spcPts val="600"/>
              </a:spcAft>
              <a:buSzPct val="100000"/>
              <a:buChar char="•"/>
            </a:pPr>
            <a:r>
              <a:rPr lang="en-US" sz="1600" dirty="0">
                <a:solidFill>
                  <a:schemeClr val="tx1"/>
                </a:solidFill>
              </a:rPr>
              <a:t>Pipeline stops leakage</a:t>
            </a:r>
            <a:endParaRPr lang="en-US" sz="1600" dirty="0"/>
          </a:p>
          <a:p>
            <a:pPr marL="342900" indent="-342900">
              <a:spcAft>
                <a:spcPts val="600"/>
              </a:spcAft>
              <a:buSzPct val="100000"/>
              <a:buChar char="•"/>
            </a:pPr>
            <a:r>
              <a:rPr lang="en-US" sz="1600" dirty="0">
                <a:solidFill>
                  <a:schemeClr val="tx1"/>
                </a:solidFill>
              </a:rPr>
              <a:t>Unknown or low-confidence input reported</a:t>
            </a:r>
            <a:endParaRPr lang="en-US" sz="16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640080" y="365760"/>
            <a:ext cx="10881360" cy="822960"/>
          </a:xfrm>
          <a:prstGeom prst="rect">
            <a:avLst/>
          </a:prstGeom>
          <a:noFill/>
          <a:ln/>
        </p:spPr>
        <p:txBody>
          <a:bodyPr wrap="square" lIns="0" tIns="0" rIns="0" bIns="0" rtlCol="0" anchor="ctr"/>
          <a:lstStyle/>
          <a:p>
            <a:pPr algn="l" indent="0" marL="0">
              <a:buNone/>
            </a:pPr>
            <a:r>
              <a:rPr lang="en-US" sz="3600" b="1" dirty="0">
                <a:solidFill>
                  <a:schemeClr val="tx1"/>
                </a:solidFill>
              </a:rPr>
              <a:t>Application Implementation and Features</a:t>
            </a:r>
            <a:endParaRPr lang="en-US" sz="3600" dirty="0"/>
          </a:p>
        </p:txBody>
      </p:sp>
      <p:sp>
        <p:nvSpPr>
          <p:cNvPr id="3" name="Feature card 1"/>
          <p:cNvSpPr/>
          <p:nvPr/>
        </p:nvSpPr>
        <p:spPr>
          <a:xfrm>
            <a:off x="640080" y="1645920"/>
            <a:ext cx="3474720" cy="2011680"/>
          </a:xfrm>
          <a:prstGeom prst="roundRect">
            <a:avLst>
              <a:gd name="adj" fmla="val 5455"/>
            </a:avLst>
          </a:prstGeom>
          <a:solidFill>
            <a:schemeClr val="bg2"/>
          </a:solidFill>
          <a:ln w="6350">
            <a:solidFill>
              <a:schemeClr val="bg2"/>
            </a:solidFill>
            <a:prstDash val="solid"/>
          </a:ln>
        </p:spPr>
      </p:sp>
      <p:sp>
        <p:nvSpPr>
          <p:cNvPr id="4" name="Badge 1"/>
          <p:cNvSpPr/>
          <p:nvPr/>
        </p:nvSpPr>
        <p:spPr>
          <a:xfrm>
            <a:off x="868680" y="1874520"/>
            <a:ext cx="457200" cy="457200"/>
          </a:xfrm>
          <a:prstGeom prst="ellipse">
            <a:avLst/>
          </a:prstGeom>
          <a:solidFill>
            <a:schemeClr val="accent1"/>
          </a:solidFill>
          <a:ln w="6350">
            <a:solidFill>
              <a:schemeClr val="accent1"/>
            </a:solidFill>
            <a:prstDash val="solid"/>
          </a:ln>
        </p:spPr>
      </p:sp>
      <p:sp>
        <p:nvSpPr>
          <p:cNvPr id="5" name="Text 3"/>
          <p:cNvSpPr txBox="1"/>
          <p:nvPr/>
        </p:nvSpPr>
        <p:spPr>
          <a:xfrm>
            <a:off x="868680" y="187452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6" name="Text 4"/>
          <p:cNvSpPr txBox="1"/>
          <p:nvPr/>
        </p:nvSpPr>
        <p:spPr>
          <a:xfrm>
            <a:off x="1508760" y="1874520"/>
            <a:ext cx="2468880" cy="457200"/>
          </a:xfrm>
          <a:prstGeom prst="rect">
            <a:avLst/>
          </a:prstGeom>
          <a:noFill/>
          <a:ln/>
        </p:spPr>
        <p:txBody>
          <a:bodyPr wrap="square" lIns="0" tIns="0" rIns="0" bIns="0" rtlCol="0" anchor="ctr"/>
          <a:lstStyle/>
          <a:p>
            <a:pPr indent="0" marL="0">
              <a:buNone/>
            </a:pPr>
            <a:r>
              <a:rPr lang="en-US" sz="1800" b="1" dirty="0">
                <a:solidFill>
                  <a:schemeClr val="tx1"/>
                </a:solidFill>
              </a:rPr>
              <a:t>Topic cards</a:t>
            </a:r>
            <a:endParaRPr lang="en-US" sz="1800" dirty="0"/>
          </a:p>
        </p:txBody>
      </p:sp>
      <p:sp>
        <p:nvSpPr>
          <p:cNvPr id="7" name="Text 5"/>
          <p:cNvSpPr txBox="1"/>
          <p:nvPr/>
        </p:nvSpPr>
        <p:spPr>
          <a:xfrm>
            <a:off x="868680" y="2560320"/>
            <a:ext cx="3017520" cy="1005840"/>
          </a:xfrm>
          <a:prstGeom prst="rect">
            <a:avLst/>
          </a:prstGeom>
          <a:noFill/>
          <a:ln/>
        </p:spPr>
        <p:txBody>
          <a:bodyPr wrap="square" lIns="0" tIns="0" rIns="0" bIns="0" rtlCol="0" anchor="t"/>
          <a:lstStyle/>
          <a:p>
            <a:pPr indent="0" marL="0">
              <a:buNone/>
            </a:pPr>
            <a:r>
              <a:rPr lang="en-US" sz="1500" dirty="0">
                <a:solidFill>
                  <a:schemeClr val="tx1"/>
                </a:solidFill>
              </a:rPr>
              <a:t>Five topics plus a mixed quiz, with Easy, Medium, Hard options.</a:t>
            </a:r>
            <a:endParaRPr lang="en-US" sz="1500" dirty="0"/>
          </a:p>
        </p:txBody>
      </p:sp>
      <p:sp>
        <p:nvSpPr>
          <p:cNvPr id="8" name="Feature card 2"/>
          <p:cNvSpPr/>
          <p:nvPr/>
        </p:nvSpPr>
        <p:spPr>
          <a:xfrm>
            <a:off x="4434840" y="1645920"/>
            <a:ext cx="3474720" cy="2011680"/>
          </a:xfrm>
          <a:prstGeom prst="roundRect">
            <a:avLst>
              <a:gd name="adj" fmla="val 5455"/>
            </a:avLst>
          </a:prstGeom>
          <a:solidFill>
            <a:schemeClr val="bg2"/>
          </a:solidFill>
          <a:ln w="6350">
            <a:solidFill>
              <a:schemeClr val="bg2"/>
            </a:solidFill>
            <a:prstDash val="solid"/>
          </a:ln>
        </p:spPr>
      </p:sp>
      <p:sp>
        <p:nvSpPr>
          <p:cNvPr id="9" name="Badge 2"/>
          <p:cNvSpPr/>
          <p:nvPr/>
        </p:nvSpPr>
        <p:spPr>
          <a:xfrm>
            <a:off x="4663440" y="1874520"/>
            <a:ext cx="457200" cy="457200"/>
          </a:xfrm>
          <a:prstGeom prst="ellipse">
            <a:avLst/>
          </a:prstGeom>
          <a:solidFill>
            <a:schemeClr val="accent2"/>
          </a:solidFill>
          <a:ln w="6350">
            <a:solidFill>
              <a:schemeClr val="accent2"/>
            </a:solidFill>
            <a:prstDash val="solid"/>
          </a:ln>
        </p:spPr>
      </p:sp>
      <p:sp>
        <p:nvSpPr>
          <p:cNvPr id="10" name="Text 8"/>
          <p:cNvSpPr txBox="1"/>
          <p:nvPr/>
        </p:nvSpPr>
        <p:spPr>
          <a:xfrm>
            <a:off x="4663440" y="187452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1" name="Text 9"/>
          <p:cNvSpPr txBox="1"/>
          <p:nvPr/>
        </p:nvSpPr>
        <p:spPr>
          <a:xfrm>
            <a:off x="5303520" y="1874520"/>
            <a:ext cx="2468880" cy="457200"/>
          </a:xfrm>
          <a:prstGeom prst="rect">
            <a:avLst/>
          </a:prstGeom>
          <a:noFill/>
          <a:ln/>
        </p:spPr>
        <p:txBody>
          <a:bodyPr wrap="square" lIns="0" tIns="0" rIns="0" bIns="0" rtlCol="0" anchor="ctr"/>
          <a:lstStyle/>
          <a:p>
            <a:pPr indent="0" marL="0">
              <a:buNone/>
            </a:pPr>
            <a:r>
              <a:rPr lang="en-US" sz="1800" b="1" dirty="0">
                <a:solidFill>
                  <a:schemeClr val="tx1"/>
                </a:solidFill>
              </a:rPr>
              <a:t>Quiz navigation</a:t>
            </a:r>
            <a:endParaRPr lang="en-US" sz="1800" dirty="0"/>
          </a:p>
        </p:txBody>
      </p:sp>
      <p:sp>
        <p:nvSpPr>
          <p:cNvPr id="12" name="Text 10"/>
          <p:cNvSpPr txBox="1"/>
          <p:nvPr/>
        </p:nvSpPr>
        <p:spPr>
          <a:xfrm>
            <a:off x="4663440" y="2560320"/>
            <a:ext cx="3017520" cy="1005840"/>
          </a:xfrm>
          <a:prstGeom prst="rect">
            <a:avLst/>
          </a:prstGeom>
          <a:noFill/>
          <a:ln/>
        </p:spPr>
        <p:txBody>
          <a:bodyPr wrap="square" lIns="0" tIns="0" rIns="0" bIns="0" rtlCol="0" anchor="t"/>
          <a:lstStyle/>
          <a:p>
            <a:pPr indent="0" marL="0">
              <a:buNone/>
            </a:pPr>
            <a:r>
              <a:rPr lang="en-US" sz="1500" dirty="0">
                <a:solidFill>
                  <a:schemeClr val="tx1"/>
                </a:solidFill>
              </a:rPr>
              <a:t>One question at a time, Previous/Next and a progress bar.</a:t>
            </a:r>
            <a:endParaRPr lang="en-US" sz="1500" dirty="0"/>
          </a:p>
        </p:txBody>
      </p:sp>
      <p:sp>
        <p:nvSpPr>
          <p:cNvPr id="13" name="Feature card 3"/>
          <p:cNvSpPr/>
          <p:nvPr/>
        </p:nvSpPr>
        <p:spPr>
          <a:xfrm>
            <a:off x="8229600" y="1645920"/>
            <a:ext cx="3474720" cy="2011680"/>
          </a:xfrm>
          <a:prstGeom prst="roundRect">
            <a:avLst>
              <a:gd name="adj" fmla="val 5455"/>
            </a:avLst>
          </a:prstGeom>
          <a:solidFill>
            <a:schemeClr val="bg2"/>
          </a:solidFill>
          <a:ln w="6350">
            <a:solidFill>
              <a:schemeClr val="bg2"/>
            </a:solidFill>
            <a:prstDash val="solid"/>
          </a:ln>
        </p:spPr>
      </p:sp>
      <p:sp>
        <p:nvSpPr>
          <p:cNvPr id="14" name="Badge 3"/>
          <p:cNvSpPr/>
          <p:nvPr/>
        </p:nvSpPr>
        <p:spPr>
          <a:xfrm>
            <a:off x="8458200" y="1874520"/>
            <a:ext cx="457200" cy="457200"/>
          </a:xfrm>
          <a:prstGeom prst="ellipse">
            <a:avLst/>
          </a:prstGeom>
          <a:solidFill>
            <a:schemeClr val="accent1"/>
          </a:solidFill>
          <a:ln w="6350">
            <a:solidFill>
              <a:schemeClr val="accent1"/>
            </a:solidFill>
            <a:prstDash val="solid"/>
          </a:ln>
        </p:spPr>
      </p:sp>
      <p:sp>
        <p:nvSpPr>
          <p:cNvPr id="15" name="Text 13"/>
          <p:cNvSpPr txBox="1"/>
          <p:nvPr/>
        </p:nvSpPr>
        <p:spPr>
          <a:xfrm>
            <a:off x="8458200" y="187452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6" name="Text 14"/>
          <p:cNvSpPr txBox="1"/>
          <p:nvPr/>
        </p:nvSpPr>
        <p:spPr>
          <a:xfrm>
            <a:off x="9098280" y="1874520"/>
            <a:ext cx="2468880" cy="457200"/>
          </a:xfrm>
          <a:prstGeom prst="rect">
            <a:avLst/>
          </a:prstGeom>
          <a:noFill/>
          <a:ln/>
        </p:spPr>
        <p:txBody>
          <a:bodyPr wrap="square" lIns="0" tIns="0" rIns="0" bIns="0" rtlCol="0" anchor="ctr"/>
          <a:lstStyle/>
          <a:p>
            <a:pPr indent="0" marL="0">
              <a:buNone/>
            </a:pPr>
            <a:r>
              <a:rPr lang="en-US" sz="1800" b="1" dirty="0">
                <a:solidFill>
                  <a:schemeClr val="tx1"/>
                </a:solidFill>
              </a:rPr>
              <a:t>Answers preserved</a:t>
            </a:r>
            <a:endParaRPr lang="en-US" sz="1800" dirty="0"/>
          </a:p>
        </p:txBody>
      </p:sp>
      <p:sp>
        <p:nvSpPr>
          <p:cNvPr id="17" name="Text 15"/>
          <p:cNvSpPr txBox="1"/>
          <p:nvPr/>
        </p:nvSpPr>
        <p:spPr>
          <a:xfrm>
            <a:off x="8458200" y="2560320"/>
            <a:ext cx="3017520" cy="1005840"/>
          </a:xfrm>
          <a:prstGeom prst="rect">
            <a:avLst/>
          </a:prstGeom>
          <a:noFill/>
          <a:ln/>
        </p:spPr>
        <p:txBody>
          <a:bodyPr wrap="square" lIns="0" tIns="0" rIns="0" bIns="0" rtlCol="0" anchor="t"/>
          <a:lstStyle/>
          <a:p>
            <a:pPr indent="0" marL="0">
              <a:buNone/>
            </a:pPr>
            <a:r>
              <a:rPr lang="en-US" sz="1500" dirty="0">
                <a:solidFill>
                  <a:schemeClr val="tx1"/>
                </a:solidFill>
              </a:rPr>
              <a:t>Stored in session state so reruns never reset them.</a:t>
            </a:r>
            <a:endParaRPr lang="en-US" sz="1500" dirty="0"/>
          </a:p>
        </p:txBody>
      </p:sp>
      <p:sp>
        <p:nvSpPr>
          <p:cNvPr id="18" name="Feature card 4"/>
          <p:cNvSpPr/>
          <p:nvPr/>
        </p:nvSpPr>
        <p:spPr>
          <a:xfrm>
            <a:off x="640080" y="3886200"/>
            <a:ext cx="3474720" cy="2011680"/>
          </a:xfrm>
          <a:prstGeom prst="roundRect">
            <a:avLst>
              <a:gd name="adj" fmla="val 5455"/>
            </a:avLst>
          </a:prstGeom>
          <a:solidFill>
            <a:schemeClr val="bg2"/>
          </a:solidFill>
          <a:ln w="6350">
            <a:solidFill>
              <a:schemeClr val="bg2"/>
            </a:solidFill>
            <a:prstDash val="solid"/>
          </a:ln>
        </p:spPr>
      </p:sp>
      <p:sp>
        <p:nvSpPr>
          <p:cNvPr id="19" name="Badge 4"/>
          <p:cNvSpPr/>
          <p:nvPr/>
        </p:nvSpPr>
        <p:spPr>
          <a:xfrm>
            <a:off x="868680" y="4114800"/>
            <a:ext cx="457200" cy="457200"/>
          </a:xfrm>
          <a:prstGeom prst="ellipse">
            <a:avLst/>
          </a:prstGeom>
          <a:solidFill>
            <a:schemeClr val="accent2"/>
          </a:solidFill>
          <a:ln w="6350">
            <a:solidFill>
              <a:schemeClr val="accent2"/>
            </a:solidFill>
            <a:prstDash val="solid"/>
          </a:ln>
        </p:spPr>
      </p:sp>
      <p:sp>
        <p:nvSpPr>
          <p:cNvPr id="20" name="Text 18"/>
          <p:cNvSpPr txBox="1"/>
          <p:nvPr/>
        </p:nvSpPr>
        <p:spPr>
          <a:xfrm>
            <a:off x="868680" y="411480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21" name="Text 19"/>
          <p:cNvSpPr txBox="1"/>
          <p:nvPr/>
        </p:nvSpPr>
        <p:spPr>
          <a:xfrm>
            <a:off x="1508760" y="4114800"/>
            <a:ext cx="2468880" cy="457200"/>
          </a:xfrm>
          <a:prstGeom prst="rect">
            <a:avLst/>
          </a:prstGeom>
          <a:noFill/>
          <a:ln/>
        </p:spPr>
        <p:txBody>
          <a:bodyPr wrap="square" lIns="0" tIns="0" rIns="0" bIns="0" rtlCol="0" anchor="ctr"/>
          <a:lstStyle/>
          <a:p>
            <a:pPr indent="0" marL="0">
              <a:buNone/>
            </a:pPr>
            <a:r>
              <a:rPr lang="en-US" sz="1800" b="1" dirty="0">
                <a:solidFill>
                  <a:schemeClr val="tx1"/>
                </a:solidFill>
              </a:rPr>
              <a:t>Results page</a:t>
            </a:r>
            <a:endParaRPr lang="en-US" sz="1800" dirty="0"/>
          </a:p>
        </p:txBody>
      </p:sp>
      <p:sp>
        <p:nvSpPr>
          <p:cNvPr id="22" name="Text 20"/>
          <p:cNvSpPr txBox="1"/>
          <p:nvPr/>
        </p:nvSpPr>
        <p:spPr>
          <a:xfrm>
            <a:off x="868680" y="4800600"/>
            <a:ext cx="3017520" cy="1005840"/>
          </a:xfrm>
          <a:prstGeom prst="rect">
            <a:avLst/>
          </a:prstGeom>
          <a:noFill/>
          <a:ln/>
        </p:spPr>
        <p:txBody>
          <a:bodyPr wrap="square" lIns="0" tIns="0" rIns="0" bIns="0" rtlCol="0" anchor="t"/>
          <a:lstStyle/>
          <a:p>
            <a:pPr indent="0" marL="0">
              <a:buNone/>
            </a:pPr>
            <a:r>
              <a:rPr lang="en-US" sz="1500" dirty="0">
                <a:solidFill>
                  <a:schemeClr val="tx1"/>
                </a:solidFill>
              </a:rPr>
              <a:t>Score, explanations, wrong answers and concept performance.</a:t>
            </a:r>
            <a:endParaRPr lang="en-US" sz="1500" dirty="0"/>
          </a:p>
        </p:txBody>
      </p:sp>
      <p:sp>
        <p:nvSpPr>
          <p:cNvPr id="23" name="Feature card 5"/>
          <p:cNvSpPr/>
          <p:nvPr/>
        </p:nvSpPr>
        <p:spPr>
          <a:xfrm>
            <a:off x="4434840" y="3886200"/>
            <a:ext cx="3474720" cy="2011680"/>
          </a:xfrm>
          <a:prstGeom prst="roundRect">
            <a:avLst>
              <a:gd name="adj" fmla="val 5455"/>
            </a:avLst>
          </a:prstGeom>
          <a:solidFill>
            <a:schemeClr val="bg2"/>
          </a:solidFill>
          <a:ln w="6350">
            <a:solidFill>
              <a:schemeClr val="bg2"/>
            </a:solidFill>
            <a:prstDash val="solid"/>
          </a:ln>
        </p:spPr>
      </p:sp>
      <p:sp>
        <p:nvSpPr>
          <p:cNvPr id="24" name="Badge 5"/>
          <p:cNvSpPr/>
          <p:nvPr/>
        </p:nvSpPr>
        <p:spPr>
          <a:xfrm>
            <a:off x="4663440" y="4114800"/>
            <a:ext cx="457200" cy="457200"/>
          </a:xfrm>
          <a:prstGeom prst="ellipse">
            <a:avLst/>
          </a:prstGeom>
          <a:solidFill>
            <a:schemeClr val="accent1"/>
          </a:solidFill>
          <a:ln w="6350">
            <a:solidFill>
              <a:schemeClr val="accent1"/>
            </a:solidFill>
            <a:prstDash val="solid"/>
          </a:ln>
        </p:spPr>
      </p:sp>
      <p:sp>
        <p:nvSpPr>
          <p:cNvPr id="25" name="Text 23"/>
          <p:cNvSpPr txBox="1"/>
          <p:nvPr/>
        </p:nvSpPr>
        <p:spPr>
          <a:xfrm>
            <a:off x="4663440" y="411480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5</a:t>
            </a:r>
            <a:endParaRPr lang="en-US" sz="1800" dirty="0"/>
          </a:p>
        </p:txBody>
      </p:sp>
      <p:sp>
        <p:nvSpPr>
          <p:cNvPr id="26" name="Text 24"/>
          <p:cNvSpPr txBox="1"/>
          <p:nvPr/>
        </p:nvSpPr>
        <p:spPr>
          <a:xfrm>
            <a:off x="5303520" y="4114800"/>
            <a:ext cx="2468880" cy="457200"/>
          </a:xfrm>
          <a:prstGeom prst="rect">
            <a:avLst/>
          </a:prstGeom>
          <a:noFill/>
          <a:ln/>
        </p:spPr>
        <p:txBody>
          <a:bodyPr wrap="square" lIns="0" tIns="0" rIns="0" bIns="0" rtlCol="0" anchor="ctr"/>
          <a:lstStyle/>
          <a:p>
            <a:pPr indent="0" marL="0">
              <a:buNone/>
            </a:pPr>
            <a:r>
              <a:rPr lang="en-US" sz="1800" b="1" dirty="0">
                <a:solidFill>
                  <a:schemeClr val="tx1"/>
                </a:solidFill>
              </a:rPr>
              <a:t>Recommendations</a:t>
            </a:r>
            <a:endParaRPr lang="en-US" sz="1800" dirty="0"/>
          </a:p>
        </p:txBody>
      </p:sp>
      <p:sp>
        <p:nvSpPr>
          <p:cNvPr id="27" name="Text 25"/>
          <p:cNvSpPr txBox="1"/>
          <p:nvPr/>
        </p:nvSpPr>
        <p:spPr>
          <a:xfrm>
            <a:off x="4663440" y="4800600"/>
            <a:ext cx="3017520" cy="1005840"/>
          </a:xfrm>
          <a:prstGeom prst="rect">
            <a:avLst/>
          </a:prstGeom>
          <a:noFill/>
          <a:ln/>
        </p:spPr>
        <p:txBody>
          <a:bodyPr wrap="square" lIns="0" tIns="0" rIns="0" bIns="0" rtlCol="0" anchor="t"/>
          <a:lstStyle/>
          <a:p>
            <a:pPr indent="0" marL="0">
              <a:buNone/>
            </a:pPr>
            <a:r>
              <a:rPr lang="en-US" sz="1500" dirty="0">
                <a:solidFill>
                  <a:schemeClr val="tx1"/>
                </a:solidFill>
              </a:rPr>
              <a:t>Concepts to revise plus unseen practice questions.</a:t>
            </a:r>
            <a:endParaRPr lang="en-US" sz="1500" dirty="0"/>
          </a:p>
        </p:txBody>
      </p:sp>
      <p:sp>
        <p:nvSpPr>
          <p:cNvPr id="28" name="Feature card 6"/>
          <p:cNvSpPr/>
          <p:nvPr/>
        </p:nvSpPr>
        <p:spPr>
          <a:xfrm>
            <a:off x="8229600" y="3886200"/>
            <a:ext cx="3474720" cy="2011680"/>
          </a:xfrm>
          <a:prstGeom prst="roundRect">
            <a:avLst>
              <a:gd name="adj" fmla="val 5455"/>
            </a:avLst>
          </a:prstGeom>
          <a:solidFill>
            <a:schemeClr val="bg2"/>
          </a:solidFill>
          <a:ln w="6350">
            <a:solidFill>
              <a:schemeClr val="bg2"/>
            </a:solidFill>
            <a:prstDash val="solid"/>
          </a:ln>
        </p:spPr>
      </p:sp>
      <p:sp>
        <p:nvSpPr>
          <p:cNvPr id="29" name="Badge 6"/>
          <p:cNvSpPr/>
          <p:nvPr/>
        </p:nvSpPr>
        <p:spPr>
          <a:xfrm>
            <a:off x="8458200" y="4114800"/>
            <a:ext cx="457200" cy="457200"/>
          </a:xfrm>
          <a:prstGeom prst="ellipse">
            <a:avLst/>
          </a:prstGeom>
          <a:solidFill>
            <a:schemeClr val="accent2"/>
          </a:solidFill>
          <a:ln w="6350">
            <a:solidFill>
              <a:schemeClr val="accent2"/>
            </a:solidFill>
            <a:prstDash val="solid"/>
          </a:ln>
        </p:spPr>
      </p:sp>
      <p:sp>
        <p:nvSpPr>
          <p:cNvPr id="30" name="Text 28"/>
          <p:cNvSpPr txBox="1"/>
          <p:nvPr/>
        </p:nvSpPr>
        <p:spPr>
          <a:xfrm>
            <a:off x="8458200" y="411480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6</a:t>
            </a:r>
            <a:endParaRPr lang="en-US" sz="1800" dirty="0"/>
          </a:p>
        </p:txBody>
      </p:sp>
      <p:sp>
        <p:nvSpPr>
          <p:cNvPr id="31" name="Text 29"/>
          <p:cNvSpPr txBox="1"/>
          <p:nvPr/>
        </p:nvSpPr>
        <p:spPr>
          <a:xfrm>
            <a:off x="9098280" y="4114800"/>
            <a:ext cx="2468880" cy="457200"/>
          </a:xfrm>
          <a:prstGeom prst="rect">
            <a:avLst/>
          </a:prstGeom>
          <a:noFill/>
          <a:ln/>
        </p:spPr>
        <p:txBody>
          <a:bodyPr wrap="square" lIns="0" tIns="0" rIns="0" bIns="0" rtlCol="0" anchor="ctr"/>
          <a:lstStyle/>
          <a:p>
            <a:pPr indent="0" marL="0">
              <a:buNone/>
            </a:pPr>
            <a:r>
              <a:rPr lang="en-US" sz="1800" b="1" dirty="0">
                <a:solidFill>
                  <a:schemeClr val="tx1"/>
                </a:solidFill>
              </a:rPr>
              <a:t>History and Topic Finder</a:t>
            </a:r>
            <a:endParaRPr lang="en-US" sz="1800" dirty="0"/>
          </a:p>
        </p:txBody>
      </p:sp>
      <p:sp>
        <p:nvSpPr>
          <p:cNvPr id="32" name="Text 30"/>
          <p:cNvSpPr txBox="1"/>
          <p:nvPr/>
        </p:nvSpPr>
        <p:spPr>
          <a:xfrm>
            <a:off x="8458200" y="4800600"/>
            <a:ext cx="3017520" cy="1005840"/>
          </a:xfrm>
          <a:prstGeom prst="rect">
            <a:avLst/>
          </a:prstGeom>
          <a:noFill/>
          <a:ln/>
        </p:spPr>
        <p:txBody>
          <a:bodyPr wrap="square" lIns="0" tIns="0" rIns="0" bIns="0" rtlCol="0" anchor="t"/>
          <a:lstStyle/>
          <a:p>
            <a:pPr indent="0" marL="0">
              <a:buNone/>
            </a:pPr>
            <a:r>
              <a:rPr lang="en-US" sz="1500" dirty="0">
                <a:solidFill>
                  <a:schemeClr val="tx1"/>
                </a:solidFill>
              </a:rPr>
              <a:t>Session history with CSV download, plus the ML topic finder.</a:t>
            </a:r>
            <a:endParaRPr lang="en-US" sz="15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640080" y="365760"/>
            <a:ext cx="10881360" cy="822960"/>
          </a:xfrm>
          <a:prstGeom prst="rect">
            <a:avLst/>
          </a:prstGeom>
          <a:noFill/>
          <a:ln/>
        </p:spPr>
        <p:txBody>
          <a:bodyPr wrap="square" lIns="0" tIns="0" rIns="0" bIns="0" rtlCol="0" anchor="ctr"/>
          <a:lstStyle/>
          <a:p>
            <a:pPr algn="l" indent="0" marL="0">
              <a:buNone/>
            </a:pPr>
            <a:r>
              <a:rPr lang="en-US" sz="3600" b="1" dirty="0">
                <a:solidFill>
                  <a:schemeClr val="tx1"/>
                </a:solidFill>
              </a:rPr>
              <a:t>Testing and Evaluation</a:t>
            </a:r>
            <a:endParaRPr lang="en-US" sz="3600" dirty="0"/>
          </a:p>
        </p:txBody>
      </p:sp>
      <p:sp>
        <p:nvSpPr>
          <p:cNvPr id="3" name="Tests card"/>
          <p:cNvSpPr/>
          <p:nvPr/>
        </p:nvSpPr>
        <p:spPr>
          <a:xfrm>
            <a:off x="640080" y="1645920"/>
            <a:ext cx="5120640" cy="3749040"/>
          </a:xfrm>
          <a:prstGeom prst="roundRect">
            <a:avLst>
              <a:gd name="adj" fmla="val 2927"/>
            </a:avLst>
          </a:prstGeom>
          <a:solidFill>
            <a:schemeClr val="bg2"/>
          </a:solidFill>
          <a:ln w="6350">
            <a:solidFill>
              <a:schemeClr val="bg2"/>
            </a:solidFill>
            <a:prstDash val="solid"/>
          </a:ln>
        </p:spPr>
      </p:sp>
      <p:sp>
        <p:nvSpPr>
          <p:cNvPr id="4" name="Text 2"/>
          <p:cNvSpPr txBox="1"/>
          <p:nvPr/>
        </p:nvSpPr>
        <p:spPr>
          <a:xfrm>
            <a:off x="914400" y="1828800"/>
            <a:ext cx="4572000" cy="457200"/>
          </a:xfrm>
          <a:prstGeom prst="rect">
            <a:avLst/>
          </a:prstGeom>
          <a:noFill/>
          <a:ln/>
        </p:spPr>
        <p:txBody>
          <a:bodyPr wrap="square" lIns="0" tIns="0" rIns="0" bIns="0" rtlCol="0" anchor="t"/>
          <a:lstStyle/>
          <a:p>
            <a:pPr indent="0" marL="0">
              <a:buNone/>
            </a:pPr>
            <a:r>
              <a:rPr lang="en-US" sz="2200" b="1" dirty="0">
                <a:solidFill>
                  <a:schemeClr val="tx1"/>
                </a:solidFill>
              </a:rPr>
              <a:t>Automated tests (pytest)</a:t>
            </a:r>
            <a:endParaRPr lang="en-US" sz="2200" dirty="0"/>
          </a:p>
        </p:txBody>
      </p:sp>
      <p:sp>
        <p:nvSpPr>
          <p:cNvPr id="5" name="Text 3"/>
          <p:cNvSpPr txBox="1"/>
          <p:nvPr/>
        </p:nvSpPr>
        <p:spPr>
          <a:xfrm>
            <a:off x="914400" y="2423160"/>
            <a:ext cx="4572000" cy="283464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chemeClr val="tx1"/>
                </a:solidFill>
              </a:rPr>
              <a:t>Score and percentage calculation</a:t>
            </a:r>
            <a:endParaRPr lang="en-US" sz="1600" dirty="0"/>
          </a:p>
          <a:p>
            <a:pPr marL="342900" indent="-342900">
              <a:spcAft>
                <a:spcPts val="600"/>
              </a:spcAft>
              <a:buSzPct val="100000"/>
              <a:buChar char="•"/>
            </a:pPr>
            <a:r>
              <a:rPr lang="en-US" sz="1600" dirty="0">
                <a:solidFill>
                  <a:schemeClr val="tx1"/>
                </a:solidFill>
              </a:rPr>
              <a:t>Empty quiz and answer checking</a:t>
            </a:r>
            <a:endParaRPr lang="en-US" sz="1600" dirty="0"/>
          </a:p>
          <a:p>
            <a:pPr marL="342900" indent="-342900">
              <a:spcAft>
                <a:spcPts val="600"/>
              </a:spcAft>
              <a:buSzPct val="100000"/>
              <a:buChar char="•"/>
            </a:pPr>
            <a:r>
              <a:rPr lang="en-US" sz="1600" dirty="0">
                <a:solidFill>
                  <a:schemeClr val="tx1"/>
                </a:solidFill>
              </a:rPr>
              <a:t>Invalid input handling</a:t>
            </a:r>
            <a:endParaRPr lang="en-US" sz="1600" dirty="0"/>
          </a:p>
          <a:p>
            <a:pPr marL="342900" indent="-342900">
              <a:spcAft>
                <a:spcPts val="600"/>
              </a:spcAft>
              <a:buSzPct val="100000"/>
              <a:buChar char="•"/>
            </a:pPr>
            <a:r>
              <a:rPr lang="en-US" sz="1600" dirty="0">
                <a:solidFill>
                  <a:schemeClr val="tx1"/>
                </a:solidFill>
              </a:rPr>
              <a:t>Topic classification and unknown input</a:t>
            </a:r>
            <a:endParaRPr lang="en-US" sz="1600" dirty="0"/>
          </a:p>
          <a:p>
            <a:pPr marL="342900" indent="-342900">
              <a:spcAft>
                <a:spcPts val="600"/>
              </a:spcAft>
              <a:buSzPct val="100000"/>
              <a:buChar char="•"/>
            </a:pPr>
            <a:r>
              <a:rPr lang="en-US" sz="1600" dirty="0">
                <a:solidFill>
                  <a:schemeClr val="tx1"/>
                </a:solidFill>
              </a:rPr>
              <a:t>Full quiz flow in the app</a:t>
            </a:r>
            <a:endParaRPr lang="en-US" sz="1600" dirty="0"/>
          </a:p>
          <a:p>
            <a:pPr marL="342900" indent="-342900">
              <a:spcAft>
                <a:spcPts val="600"/>
              </a:spcAft>
              <a:buSzPct val="100000"/>
              <a:buChar char="•"/>
            </a:pPr>
            <a:r>
              <a:rPr lang="en-US" sz="1600" dirty="0">
                <a:solidFill>
                  <a:schemeClr val="tx1"/>
                </a:solidFill>
              </a:rPr>
              <a:t>55 tests passed in my run</a:t>
            </a:r>
            <a:endParaRPr lang="en-US" sz="1600" dirty="0"/>
          </a:p>
        </p:txBody>
      </p:sp>
      <p:sp>
        <p:nvSpPr>
          <p:cNvPr id="6" name="Metric 1"/>
          <p:cNvSpPr/>
          <p:nvPr/>
        </p:nvSpPr>
        <p:spPr>
          <a:xfrm>
            <a:off x="6126480" y="1645920"/>
            <a:ext cx="2651760" cy="1737360"/>
          </a:xfrm>
          <a:prstGeom prst="roundRect">
            <a:avLst>
              <a:gd name="adj" fmla="val 6316"/>
            </a:avLst>
          </a:prstGeom>
          <a:solidFill>
            <a:schemeClr val="tx1"/>
          </a:solidFill>
          <a:ln w="6350">
            <a:solidFill>
              <a:schemeClr val="tx1"/>
            </a:solidFill>
            <a:prstDash val="solid"/>
          </a:ln>
        </p:spPr>
      </p:sp>
      <p:sp>
        <p:nvSpPr>
          <p:cNvPr id="7" name="Text 5"/>
          <p:cNvSpPr txBox="1"/>
          <p:nvPr/>
        </p:nvSpPr>
        <p:spPr>
          <a:xfrm>
            <a:off x="6126480" y="1828800"/>
            <a:ext cx="2651760" cy="914400"/>
          </a:xfrm>
          <a:prstGeom prst="rect">
            <a:avLst/>
          </a:prstGeom>
          <a:noFill/>
          <a:ln/>
        </p:spPr>
        <p:txBody>
          <a:bodyPr wrap="square" lIns="0" tIns="0" rIns="0" bIns="0" rtlCol="0" anchor="t"/>
          <a:lstStyle/>
          <a:p>
            <a:pPr algn="ctr" indent="0" marL="0">
              <a:buNone/>
            </a:pPr>
            <a:r>
              <a:rPr lang="en-US" sz="4800" b="1" dirty="0">
                <a:solidFill>
                  <a:schemeClr val="accent3"/>
                </a:solidFill>
              </a:rPr>
              <a:t>0.75</a:t>
            </a:r>
            <a:endParaRPr lang="en-US" sz="4800" dirty="0"/>
          </a:p>
        </p:txBody>
      </p:sp>
      <p:sp>
        <p:nvSpPr>
          <p:cNvPr id="8" name="Text 6"/>
          <p:cNvSpPr txBox="1"/>
          <p:nvPr/>
        </p:nvSpPr>
        <p:spPr>
          <a:xfrm>
            <a:off x="6126480" y="2788920"/>
            <a:ext cx="2651760" cy="457200"/>
          </a:xfrm>
          <a:prstGeom prst="rect">
            <a:avLst/>
          </a:prstGeom>
          <a:noFill/>
          <a:ln/>
        </p:spPr>
        <p:txBody>
          <a:bodyPr wrap="square" lIns="0" tIns="0" rIns="0" bIns="0" rtlCol="0" anchor="t"/>
          <a:lstStyle/>
          <a:p>
            <a:pPr algn="ctr" indent="0" marL="0">
              <a:buNone/>
            </a:pPr>
            <a:r>
              <a:rPr lang="en-US" sz="1600" dirty="0">
                <a:solidFill>
                  <a:schemeClr val="bg1"/>
                </a:solidFill>
              </a:rPr>
              <a:t>Accuracy</a:t>
            </a:r>
            <a:endParaRPr lang="en-US" sz="1600" dirty="0"/>
          </a:p>
        </p:txBody>
      </p:sp>
      <p:sp>
        <p:nvSpPr>
          <p:cNvPr id="9" name="Metric 2"/>
          <p:cNvSpPr/>
          <p:nvPr/>
        </p:nvSpPr>
        <p:spPr>
          <a:xfrm>
            <a:off x="8961120" y="1645920"/>
            <a:ext cx="2651760" cy="1737360"/>
          </a:xfrm>
          <a:prstGeom prst="roundRect">
            <a:avLst>
              <a:gd name="adj" fmla="val 6316"/>
            </a:avLst>
          </a:prstGeom>
          <a:solidFill>
            <a:schemeClr val="tx1"/>
          </a:solidFill>
          <a:ln w="6350">
            <a:solidFill>
              <a:schemeClr val="tx1"/>
            </a:solidFill>
            <a:prstDash val="solid"/>
          </a:ln>
        </p:spPr>
      </p:sp>
      <p:sp>
        <p:nvSpPr>
          <p:cNvPr id="10" name="Text 8"/>
          <p:cNvSpPr txBox="1"/>
          <p:nvPr/>
        </p:nvSpPr>
        <p:spPr>
          <a:xfrm>
            <a:off x="8961120" y="1828800"/>
            <a:ext cx="2651760" cy="914400"/>
          </a:xfrm>
          <a:prstGeom prst="rect">
            <a:avLst/>
          </a:prstGeom>
          <a:noFill/>
          <a:ln/>
        </p:spPr>
        <p:txBody>
          <a:bodyPr wrap="square" lIns="0" tIns="0" rIns="0" bIns="0" rtlCol="0" anchor="t"/>
          <a:lstStyle/>
          <a:p>
            <a:pPr algn="ctr" indent="0" marL="0">
              <a:buNone/>
            </a:pPr>
            <a:r>
              <a:rPr lang="en-US" sz="4800" b="1" dirty="0">
                <a:solidFill>
                  <a:schemeClr val="accent3"/>
                </a:solidFill>
              </a:rPr>
              <a:t>0.75</a:t>
            </a:r>
            <a:endParaRPr lang="en-US" sz="4800" dirty="0"/>
          </a:p>
        </p:txBody>
      </p:sp>
      <p:sp>
        <p:nvSpPr>
          <p:cNvPr id="11" name="Text 9"/>
          <p:cNvSpPr txBox="1"/>
          <p:nvPr/>
        </p:nvSpPr>
        <p:spPr>
          <a:xfrm>
            <a:off x="8961120" y="2788920"/>
            <a:ext cx="2651760" cy="457200"/>
          </a:xfrm>
          <a:prstGeom prst="rect">
            <a:avLst/>
          </a:prstGeom>
          <a:noFill/>
          <a:ln/>
        </p:spPr>
        <p:txBody>
          <a:bodyPr wrap="square" lIns="0" tIns="0" rIns="0" bIns="0" rtlCol="0" anchor="t"/>
          <a:lstStyle/>
          <a:p>
            <a:pPr algn="ctr" indent="0" marL="0">
              <a:buNone/>
            </a:pPr>
            <a:r>
              <a:rPr lang="en-US" sz="1600" dirty="0">
                <a:solidFill>
                  <a:schemeClr val="bg1"/>
                </a:solidFill>
              </a:rPr>
              <a:t>Macro F1</a:t>
            </a:r>
            <a:endParaRPr lang="en-US" sz="1600" dirty="0"/>
          </a:p>
        </p:txBody>
      </p:sp>
      <p:sp>
        <p:nvSpPr>
          <p:cNvPr id="12" name="Metric 3"/>
          <p:cNvSpPr/>
          <p:nvPr/>
        </p:nvSpPr>
        <p:spPr>
          <a:xfrm>
            <a:off x="6126480" y="3566160"/>
            <a:ext cx="2651760" cy="1737360"/>
          </a:xfrm>
          <a:prstGeom prst="roundRect">
            <a:avLst>
              <a:gd name="adj" fmla="val 6316"/>
            </a:avLst>
          </a:prstGeom>
          <a:solidFill>
            <a:schemeClr val="tx1"/>
          </a:solidFill>
          <a:ln w="6350">
            <a:solidFill>
              <a:schemeClr val="tx1"/>
            </a:solidFill>
            <a:prstDash val="solid"/>
          </a:ln>
        </p:spPr>
      </p:sp>
      <p:sp>
        <p:nvSpPr>
          <p:cNvPr id="13" name="Text 11"/>
          <p:cNvSpPr txBox="1"/>
          <p:nvPr/>
        </p:nvSpPr>
        <p:spPr>
          <a:xfrm>
            <a:off x="6126480" y="3749040"/>
            <a:ext cx="2651760" cy="914400"/>
          </a:xfrm>
          <a:prstGeom prst="rect">
            <a:avLst/>
          </a:prstGeom>
          <a:noFill/>
          <a:ln/>
        </p:spPr>
        <p:txBody>
          <a:bodyPr wrap="square" lIns="0" tIns="0" rIns="0" bIns="0" rtlCol="0" anchor="t"/>
          <a:lstStyle/>
          <a:p>
            <a:pPr algn="ctr" indent="0" marL="0">
              <a:buNone/>
            </a:pPr>
            <a:r>
              <a:rPr lang="en-US" sz="4800" b="1" dirty="0">
                <a:solidFill>
                  <a:schemeClr val="accent3"/>
                </a:solidFill>
              </a:rPr>
              <a:t>0.78</a:t>
            </a:r>
            <a:endParaRPr lang="en-US" sz="4800" dirty="0"/>
          </a:p>
        </p:txBody>
      </p:sp>
      <p:sp>
        <p:nvSpPr>
          <p:cNvPr id="14" name="Text 12"/>
          <p:cNvSpPr txBox="1"/>
          <p:nvPr/>
        </p:nvSpPr>
        <p:spPr>
          <a:xfrm>
            <a:off x="6126480" y="4709160"/>
            <a:ext cx="2651760" cy="457200"/>
          </a:xfrm>
          <a:prstGeom prst="rect">
            <a:avLst/>
          </a:prstGeom>
          <a:noFill/>
          <a:ln/>
        </p:spPr>
        <p:txBody>
          <a:bodyPr wrap="square" lIns="0" tIns="0" rIns="0" bIns="0" rtlCol="0" anchor="t"/>
          <a:lstStyle/>
          <a:p>
            <a:pPr algn="ctr" indent="0" marL="0">
              <a:buNone/>
            </a:pPr>
            <a:r>
              <a:rPr lang="en-US" sz="1600" dirty="0">
                <a:solidFill>
                  <a:schemeClr val="bg1"/>
                </a:solidFill>
              </a:rPr>
              <a:t>Macro precision</a:t>
            </a:r>
            <a:endParaRPr lang="en-US" sz="1600" dirty="0"/>
          </a:p>
        </p:txBody>
      </p:sp>
      <p:sp>
        <p:nvSpPr>
          <p:cNvPr id="15" name="Metric 4"/>
          <p:cNvSpPr/>
          <p:nvPr/>
        </p:nvSpPr>
        <p:spPr>
          <a:xfrm>
            <a:off x="8961120" y="3566160"/>
            <a:ext cx="2651760" cy="1737360"/>
          </a:xfrm>
          <a:prstGeom prst="roundRect">
            <a:avLst>
              <a:gd name="adj" fmla="val 6316"/>
            </a:avLst>
          </a:prstGeom>
          <a:solidFill>
            <a:schemeClr val="tx1"/>
          </a:solidFill>
          <a:ln w="6350">
            <a:solidFill>
              <a:schemeClr val="tx1"/>
            </a:solidFill>
            <a:prstDash val="solid"/>
          </a:ln>
        </p:spPr>
      </p:sp>
      <p:sp>
        <p:nvSpPr>
          <p:cNvPr id="16" name="Text 14"/>
          <p:cNvSpPr txBox="1"/>
          <p:nvPr/>
        </p:nvSpPr>
        <p:spPr>
          <a:xfrm>
            <a:off x="8961120" y="3749040"/>
            <a:ext cx="2651760" cy="914400"/>
          </a:xfrm>
          <a:prstGeom prst="rect">
            <a:avLst/>
          </a:prstGeom>
          <a:noFill/>
          <a:ln/>
        </p:spPr>
        <p:txBody>
          <a:bodyPr wrap="square" lIns="0" tIns="0" rIns="0" bIns="0" rtlCol="0" anchor="t"/>
          <a:lstStyle/>
          <a:p>
            <a:pPr algn="ctr" indent="0" marL="0">
              <a:buNone/>
            </a:pPr>
            <a:r>
              <a:rPr lang="en-US" sz="4800" b="1" dirty="0">
                <a:solidFill>
                  <a:schemeClr val="accent3"/>
                </a:solidFill>
              </a:rPr>
              <a:t>0.76</a:t>
            </a:r>
            <a:endParaRPr lang="en-US" sz="4800" dirty="0"/>
          </a:p>
        </p:txBody>
      </p:sp>
      <p:sp>
        <p:nvSpPr>
          <p:cNvPr id="17" name="Text 15"/>
          <p:cNvSpPr txBox="1"/>
          <p:nvPr/>
        </p:nvSpPr>
        <p:spPr>
          <a:xfrm>
            <a:off x="8961120" y="4709160"/>
            <a:ext cx="2651760" cy="457200"/>
          </a:xfrm>
          <a:prstGeom prst="rect">
            <a:avLst/>
          </a:prstGeom>
          <a:noFill/>
          <a:ln/>
        </p:spPr>
        <p:txBody>
          <a:bodyPr wrap="square" lIns="0" tIns="0" rIns="0" bIns="0" rtlCol="0" anchor="t"/>
          <a:lstStyle/>
          <a:p>
            <a:pPr algn="ctr" indent="0" marL="0">
              <a:buNone/>
            </a:pPr>
            <a:r>
              <a:rPr lang="en-US" sz="1600" dirty="0">
                <a:solidFill>
                  <a:schemeClr val="bg1"/>
                </a:solidFill>
              </a:rPr>
              <a:t>Macro recall</a:t>
            </a:r>
            <a:endParaRPr lang="en-US" sz="1600" dirty="0"/>
          </a:p>
        </p:txBody>
      </p:sp>
      <p:sp>
        <p:nvSpPr>
          <p:cNvPr id="18" name="Text 16"/>
          <p:cNvSpPr txBox="1"/>
          <p:nvPr/>
        </p:nvSpPr>
        <p:spPr>
          <a:xfrm>
            <a:off x="640080" y="5577840"/>
            <a:ext cx="10881360" cy="731520"/>
          </a:xfrm>
          <a:prstGeom prst="rect">
            <a:avLst/>
          </a:prstGeom>
          <a:noFill/>
          <a:ln/>
        </p:spPr>
        <p:txBody>
          <a:bodyPr wrap="square" lIns="0" tIns="0" rIns="0" bIns="0" rtlCol="0" anchor="t"/>
          <a:lstStyle/>
          <a:p>
            <a:pPr indent="0" marL="0">
              <a:buNone/>
            </a:pPr>
            <a:r>
              <a:rPr lang="en-US" sz="1400" i="1" dirty="0">
                <a:solidFill>
                  <a:schemeClr val="accent6"/>
                </a:solidFill>
              </a:rPr>
              <a:t>Measured in my training run (112 train / 28 test sentences, seed 42). Re-check against your own models/metrics.json. The test set is small, so treat these as indicative.</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640080" y="365760"/>
            <a:ext cx="10881360" cy="822960"/>
          </a:xfrm>
          <a:prstGeom prst="rect">
            <a:avLst/>
          </a:prstGeom>
          <a:noFill/>
          <a:ln/>
        </p:spPr>
        <p:txBody>
          <a:bodyPr wrap="square" lIns="0" tIns="0" rIns="0" bIns="0" rtlCol="0" anchor="ctr"/>
          <a:lstStyle/>
          <a:p>
            <a:pPr algn="l" indent="0" marL="0">
              <a:buNone/>
            </a:pPr>
            <a:r>
              <a:rPr lang="en-US" sz="3600" b="1" dirty="0">
                <a:solidFill>
                  <a:schemeClr val="tx1"/>
                </a:solidFill>
              </a:rPr>
              <a:t>Screenshots and Actual Results</a:t>
            </a:r>
            <a:endParaRPr lang="en-US" sz="3600" dirty="0"/>
          </a:p>
        </p:txBody>
      </p:sp>
      <p:sp>
        <p:nvSpPr>
          <p:cNvPr id="3" name="Screenshot placeholder 1"/>
          <p:cNvSpPr/>
          <p:nvPr/>
        </p:nvSpPr>
        <p:spPr>
          <a:xfrm>
            <a:off x="640080" y="1554480"/>
            <a:ext cx="3474720" cy="2148840"/>
          </a:xfrm>
          <a:prstGeom prst="roundRect">
            <a:avLst>
              <a:gd name="adj" fmla="val 5106"/>
            </a:avLst>
          </a:prstGeom>
          <a:solidFill>
            <a:schemeClr val="bg2"/>
          </a:solidFill>
          <a:ln w="19050">
            <a:solidFill>
              <a:schemeClr val="accent1"/>
            </a:solidFill>
            <a:prstDash val="dash"/>
          </a:ln>
        </p:spPr>
      </p:sp>
      <p:sp>
        <p:nvSpPr>
          <p:cNvPr id="4" name="Text 2"/>
          <p:cNvSpPr txBox="1"/>
          <p:nvPr/>
        </p:nvSpPr>
        <p:spPr>
          <a:xfrm>
            <a:off x="640080" y="2057400"/>
            <a:ext cx="3474720" cy="457200"/>
          </a:xfrm>
          <a:prstGeom prst="rect">
            <a:avLst/>
          </a:prstGeom>
          <a:noFill/>
          <a:ln/>
        </p:spPr>
        <p:txBody>
          <a:bodyPr wrap="square" lIns="0" tIns="0" rIns="0" bIns="0" rtlCol="0" anchor="t"/>
          <a:lstStyle/>
          <a:p>
            <a:pPr algn="ctr" indent="0" marL="0">
              <a:buNone/>
            </a:pPr>
            <a:r>
              <a:rPr lang="en-US" sz="1800" b="1" dirty="0">
                <a:solidFill>
                  <a:schemeClr val="accent5"/>
                </a:solidFill>
              </a:rPr>
              <a:t>[PLACEHOLDER]</a:t>
            </a:r>
            <a:endParaRPr lang="en-US" sz="1800" dirty="0"/>
          </a:p>
        </p:txBody>
      </p:sp>
      <p:sp>
        <p:nvSpPr>
          <p:cNvPr id="5" name="Text 3"/>
          <p:cNvSpPr txBox="1"/>
          <p:nvPr/>
        </p:nvSpPr>
        <p:spPr>
          <a:xfrm>
            <a:off x="640080" y="2560320"/>
            <a:ext cx="3474720" cy="457200"/>
          </a:xfrm>
          <a:prstGeom prst="rect">
            <a:avLst/>
          </a:prstGeom>
          <a:noFill/>
          <a:ln/>
        </p:spPr>
        <p:txBody>
          <a:bodyPr wrap="square" lIns="0" tIns="0" rIns="0" bIns="0" rtlCol="0" anchor="t"/>
          <a:lstStyle/>
          <a:p>
            <a:pPr algn="ctr" indent="0" marL="0">
              <a:buNone/>
            </a:pPr>
            <a:r>
              <a:rPr lang="en-US" sz="1800" b="1" dirty="0">
                <a:solidFill>
                  <a:schemeClr val="tx1"/>
                </a:solidFill>
              </a:rPr>
              <a:t>Home page</a:t>
            </a:r>
            <a:endParaRPr lang="en-US" sz="1800" dirty="0"/>
          </a:p>
        </p:txBody>
      </p:sp>
      <p:sp>
        <p:nvSpPr>
          <p:cNvPr id="6" name="Text 4"/>
          <p:cNvSpPr txBox="1"/>
          <p:nvPr/>
        </p:nvSpPr>
        <p:spPr>
          <a:xfrm>
            <a:off x="640080" y="3017520"/>
            <a:ext cx="3474720" cy="365760"/>
          </a:xfrm>
          <a:prstGeom prst="rect">
            <a:avLst/>
          </a:prstGeom>
          <a:noFill/>
          <a:ln/>
        </p:spPr>
        <p:txBody>
          <a:bodyPr wrap="square" lIns="0" tIns="0" rIns="0" bIns="0" rtlCol="0" anchor="t"/>
          <a:lstStyle/>
          <a:p>
            <a:pPr algn="ctr" indent="0" marL="0">
              <a:buNone/>
            </a:pPr>
            <a:r>
              <a:rPr lang="en-US" sz="1400" dirty="0">
                <a:solidFill>
                  <a:schemeClr val="accent6"/>
                </a:solidFill>
              </a:rPr>
              <a:t>Replace with your real screenshot</a:t>
            </a:r>
            <a:endParaRPr lang="en-US" sz="1400" dirty="0"/>
          </a:p>
        </p:txBody>
      </p:sp>
      <p:sp>
        <p:nvSpPr>
          <p:cNvPr id="7" name="Screenshot placeholder 2"/>
          <p:cNvSpPr/>
          <p:nvPr/>
        </p:nvSpPr>
        <p:spPr>
          <a:xfrm>
            <a:off x="4434840" y="1554480"/>
            <a:ext cx="3474720" cy="2148840"/>
          </a:xfrm>
          <a:prstGeom prst="roundRect">
            <a:avLst>
              <a:gd name="adj" fmla="val 5106"/>
            </a:avLst>
          </a:prstGeom>
          <a:solidFill>
            <a:schemeClr val="bg2"/>
          </a:solidFill>
          <a:ln w="19050">
            <a:solidFill>
              <a:schemeClr val="accent1"/>
            </a:solidFill>
            <a:prstDash val="dash"/>
          </a:ln>
        </p:spPr>
      </p:sp>
      <p:sp>
        <p:nvSpPr>
          <p:cNvPr id="8" name="Text 6"/>
          <p:cNvSpPr txBox="1"/>
          <p:nvPr/>
        </p:nvSpPr>
        <p:spPr>
          <a:xfrm>
            <a:off x="4434840" y="2057400"/>
            <a:ext cx="3474720" cy="457200"/>
          </a:xfrm>
          <a:prstGeom prst="rect">
            <a:avLst/>
          </a:prstGeom>
          <a:noFill/>
          <a:ln/>
        </p:spPr>
        <p:txBody>
          <a:bodyPr wrap="square" lIns="0" tIns="0" rIns="0" bIns="0" rtlCol="0" anchor="t"/>
          <a:lstStyle/>
          <a:p>
            <a:pPr algn="ctr" indent="0" marL="0">
              <a:buNone/>
            </a:pPr>
            <a:r>
              <a:rPr lang="en-US" sz="1800" b="1" dirty="0">
                <a:solidFill>
                  <a:schemeClr val="accent5"/>
                </a:solidFill>
              </a:rPr>
              <a:t>[PLACEHOLDER]</a:t>
            </a:r>
            <a:endParaRPr lang="en-US" sz="1800" dirty="0"/>
          </a:p>
        </p:txBody>
      </p:sp>
      <p:sp>
        <p:nvSpPr>
          <p:cNvPr id="9" name="Text 7"/>
          <p:cNvSpPr txBox="1"/>
          <p:nvPr/>
        </p:nvSpPr>
        <p:spPr>
          <a:xfrm>
            <a:off x="4434840" y="2560320"/>
            <a:ext cx="3474720" cy="457200"/>
          </a:xfrm>
          <a:prstGeom prst="rect">
            <a:avLst/>
          </a:prstGeom>
          <a:noFill/>
          <a:ln/>
        </p:spPr>
        <p:txBody>
          <a:bodyPr wrap="square" lIns="0" tIns="0" rIns="0" bIns="0" rtlCol="0" anchor="t"/>
          <a:lstStyle/>
          <a:p>
            <a:pPr algn="ctr" indent="0" marL="0">
              <a:buNone/>
            </a:pPr>
            <a:r>
              <a:rPr lang="en-US" sz="1800" b="1" dirty="0">
                <a:solidFill>
                  <a:schemeClr val="tx1"/>
                </a:solidFill>
              </a:rPr>
              <a:t>Topic selection</a:t>
            </a:r>
            <a:endParaRPr lang="en-US" sz="1800" dirty="0"/>
          </a:p>
        </p:txBody>
      </p:sp>
      <p:sp>
        <p:nvSpPr>
          <p:cNvPr id="10" name="Text 8"/>
          <p:cNvSpPr txBox="1"/>
          <p:nvPr/>
        </p:nvSpPr>
        <p:spPr>
          <a:xfrm>
            <a:off x="4434840" y="3017520"/>
            <a:ext cx="3474720" cy="365760"/>
          </a:xfrm>
          <a:prstGeom prst="rect">
            <a:avLst/>
          </a:prstGeom>
          <a:noFill/>
          <a:ln/>
        </p:spPr>
        <p:txBody>
          <a:bodyPr wrap="square" lIns="0" tIns="0" rIns="0" bIns="0" rtlCol="0" anchor="t"/>
          <a:lstStyle/>
          <a:p>
            <a:pPr algn="ctr" indent="0" marL="0">
              <a:buNone/>
            </a:pPr>
            <a:r>
              <a:rPr lang="en-US" sz="1400" dirty="0">
                <a:solidFill>
                  <a:schemeClr val="accent6"/>
                </a:solidFill>
              </a:rPr>
              <a:t>Replace with your real screenshot</a:t>
            </a:r>
            <a:endParaRPr lang="en-US" sz="1400" dirty="0"/>
          </a:p>
        </p:txBody>
      </p:sp>
      <p:sp>
        <p:nvSpPr>
          <p:cNvPr id="11" name="Screenshot placeholder 3"/>
          <p:cNvSpPr/>
          <p:nvPr/>
        </p:nvSpPr>
        <p:spPr>
          <a:xfrm>
            <a:off x="8229600" y="1554480"/>
            <a:ext cx="3474720" cy="2148840"/>
          </a:xfrm>
          <a:prstGeom prst="roundRect">
            <a:avLst>
              <a:gd name="adj" fmla="val 5106"/>
            </a:avLst>
          </a:prstGeom>
          <a:solidFill>
            <a:schemeClr val="bg2"/>
          </a:solidFill>
          <a:ln w="19050">
            <a:solidFill>
              <a:schemeClr val="accent1"/>
            </a:solidFill>
            <a:prstDash val="dash"/>
          </a:ln>
        </p:spPr>
      </p:sp>
      <p:sp>
        <p:nvSpPr>
          <p:cNvPr id="12" name="Text 10"/>
          <p:cNvSpPr txBox="1"/>
          <p:nvPr/>
        </p:nvSpPr>
        <p:spPr>
          <a:xfrm>
            <a:off x="8229600" y="2057400"/>
            <a:ext cx="3474720" cy="457200"/>
          </a:xfrm>
          <a:prstGeom prst="rect">
            <a:avLst/>
          </a:prstGeom>
          <a:noFill/>
          <a:ln/>
        </p:spPr>
        <p:txBody>
          <a:bodyPr wrap="square" lIns="0" tIns="0" rIns="0" bIns="0" rtlCol="0" anchor="t"/>
          <a:lstStyle/>
          <a:p>
            <a:pPr algn="ctr" indent="0" marL="0">
              <a:buNone/>
            </a:pPr>
            <a:r>
              <a:rPr lang="en-US" sz="1800" b="1" dirty="0">
                <a:solidFill>
                  <a:schemeClr val="accent5"/>
                </a:solidFill>
              </a:rPr>
              <a:t>[PLACEHOLDER]</a:t>
            </a:r>
            <a:endParaRPr lang="en-US" sz="1800" dirty="0"/>
          </a:p>
        </p:txBody>
      </p:sp>
      <p:sp>
        <p:nvSpPr>
          <p:cNvPr id="13" name="Text 11"/>
          <p:cNvSpPr txBox="1"/>
          <p:nvPr/>
        </p:nvSpPr>
        <p:spPr>
          <a:xfrm>
            <a:off x="8229600" y="2560320"/>
            <a:ext cx="3474720" cy="457200"/>
          </a:xfrm>
          <a:prstGeom prst="rect">
            <a:avLst/>
          </a:prstGeom>
          <a:noFill/>
          <a:ln/>
        </p:spPr>
        <p:txBody>
          <a:bodyPr wrap="square" lIns="0" tIns="0" rIns="0" bIns="0" rtlCol="0" anchor="t"/>
          <a:lstStyle/>
          <a:p>
            <a:pPr algn="ctr" indent="0" marL="0">
              <a:buNone/>
            </a:pPr>
            <a:r>
              <a:rPr lang="en-US" sz="1800" b="1" dirty="0">
                <a:solidFill>
                  <a:schemeClr val="tx1"/>
                </a:solidFill>
              </a:rPr>
              <a:t>Quiz in progress</a:t>
            </a:r>
            <a:endParaRPr lang="en-US" sz="1800" dirty="0"/>
          </a:p>
        </p:txBody>
      </p:sp>
      <p:sp>
        <p:nvSpPr>
          <p:cNvPr id="14" name="Text 12"/>
          <p:cNvSpPr txBox="1"/>
          <p:nvPr/>
        </p:nvSpPr>
        <p:spPr>
          <a:xfrm>
            <a:off x="8229600" y="3017520"/>
            <a:ext cx="3474720" cy="365760"/>
          </a:xfrm>
          <a:prstGeom prst="rect">
            <a:avLst/>
          </a:prstGeom>
          <a:noFill/>
          <a:ln/>
        </p:spPr>
        <p:txBody>
          <a:bodyPr wrap="square" lIns="0" tIns="0" rIns="0" bIns="0" rtlCol="0" anchor="t"/>
          <a:lstStyle/>
          <a:p>
            <a:pPr algn="ctr" indent="0" marL="0">
              <a:buNone/>
            </a:pPr>
            <a:r>
              <a:rPr lang="en-US" sz="1400" dirty="0">
                <a:solidFill>
                  <a:schemeClr val="accent6"/>
                </a:solidFill>
              </a:rPr>
              <a:t>Replace with your real screenshot</a:t>
            </a:r>
            <a:endParaRPr lang="en-US" sz="1400" dirty="0"/>
          </a:p>
        </p:txBody>
      </p:sp>
      <p:sp>
        <p:nvSpPr>
          <p:cNvPr id="15" name="Screenshot placeholder 4"/>
          <p:cNvSpPr/>
          <p:nvPr/>
        </p:nvSpPr>
        <p:spPr>
          <a:xfrm>
            <a:off x="640080" y="3931920"/>
            <a:ext cx="3474720" cy="2148840"/>
          </a:xfrm>
          <a:prstGeom prst="roundRect">
            <a:avLst>
              <a:gd name="adj" fmla="val 5106"/>
            </a:avLst>
          </a:prstGeom>
          <a:solidFill>
            <a:schemeClr val="bg2"/>
          </a:solidFill>
          <a:ln w="19050">
            <a:solidFill>
              <a:schemeClr val="accent1"/>
            </a:solidFill>
            <a:prstDash val="dash"/>
          </a:ln>
        </p:spPr>
      </p:sp>
      <p:sp>
        <p:nvSpPr>
          <p:cNvPr id="16" name="Text 14"/>
          <p:cNvSpPr txBox="1"/>
          <p:nvPr/>
        </p:nvSpPr>
        <p:spPr>
          <a:xfrm>
            <a:off x="640080" y="4434840"/>
            <a:ext cx="3474720" cy="457200"/>
          </a:xfrm>
          <a:prstGeom prst="rect">
            <a:avLst/>
          </a:prstGeom>
          <a:noFill/>
          <a:ln/>
        </p:spPr>
        <p:txBody>
          <a:bodyPr wrap="square" lIns="0" tIns="0" rIns="0" bIns="0" rtlCol="0" anchor="t"/>
          <a:lstStyle/>
          <a:p>
            <a:pPr algn="ctr" indent="0" marL="0">
              <a:buNone/>
            </a:pPr>
            <a:r>
              <a:rPr lang="en-US" sz="1800" b="1" dirty="0">
                <a:solidFill>
                  <a:schemeClr val="accent5"/>
                </a:solidFill>
              </a:rPr>
              <a:t>[PLACEHOLDER]</a:t>
            </a:r>
            <a:endParaRPr lang="en-US" sz="1800" dirty="0"/>
          </a:p>
        </p:txBody>
      </p:sp>
      <p:sp>
        <p:nvSpPr>
          <p:cNvPr id="17" name="Text 15"/>
          <p:cNvSpPr txBox="1"/>
          <p:nvPr/>
        </p:nvSpPr>
        <p:spPr>
          <a:xfrm>
            <a:off x="640080" y="4937760"/>
            <a:ext cx="3474720" cy="457200"/>
          </a:xfrm>
          <a:prstGeom prst="rect">
            <a:avLst/>
          </a:prstGeom>
          <a:noFill/>
          <a:ln/>
        </p:spPr>
        <p:txBody>
          <a:bodyPr wrap="square" lIns="0" tIns="0" rIns="0" bIns="0" rtlCol="0" anchor="t"/>
          <a:lstStyle/>
          <a:p>
            <a:pPr algn="ctr" indent="0" marL="0">
              <a:buNone/>
            </a:pPr>
            <a:r>
              <a:rPr lang="en-US" sz="1800" b="1" dirty="0">
                <a:solidFill>
                  <a:schemeClr val="tx1"/>
                </a:solidFill>
              </a:rPr>
              <a:t>Results page</a:t>
            </a:r>
            <a:endParaRPr lang="en-US" sz="1800" dirty="0"/>
          </a:p>
        </p:txBody>
      </p:sp>
      <p:sp>
        <p:nvSpPr>
          <p:cNvPr id="18" name="Text 16"/>
          <p:cNvSpPr txBox="1"/>
          <p:nvPr/>
        </p:nvSpPr>
        <p:spPr>
          <a:xfrm>
            <a:off x="640080" y="5394960"/>
            <a:ext cx="3474720" cy="365760"/>
          </a:xfrm>
          <a:prstGeom prst="rect">
            <a:avLst/>
          </a:prstGeom>
          <a:noFill/>
          <a:ln/>
        </p:spPr>
        <p:txBody>
          <a:bodyPr wrap="square" lIns="0" tIns="0" rIns="0" bIns="0" rtlCol="0" anchor="t"/>
          <a:lstStyle/>
          <a:p>
            <a:pPr algn="ctr" indent="0" marL="0">
              <a:buNone/>
            </a:pPr>
            <a:r>
              <a:rPr lang="en-US" sz="1400" dirty="0">
                <a:solidFill>
                  <a:schemeClr val="accent6"/>
                </a:solidFill>
              </a:rPr>
              <a:t>Replace with your real screenshot</a:t>
            </a:r>
            <a:endParaRPr lang="en-US" sz="1400" dirty="0"/>
          </a:p>
        </p:txBody>
      </p:sp>
      <p:sp>
        <p:nvSpPr>
          <p:cNvPr id="19" name="Screenshot placeholder 5"/>
          <p:cNvSpPr/>
          <p:nvPr/>
        </p:nvSpPr>
        <p:spPr>
          <a:xfrm>
            <a:off x="4434840" y="3931920"/>
            <a:ext cx="3474720" cy="2148840"/>
          </a:xfrm>
          <a:prstGeom prst="roundRect">
            <a:avLst>
              <a:gd name="adj" fmla="val 5106"/>
            </a:avLst>
          </a:prstGeom>
          <a:solidFill>
            <a:schemeClr val="bg2"/>
          </a:solidFill>
          <a:ln w="19050">
            <a:solidFill>
              <a:schemeClr val="accent1"/>
            </a:solidFill>
            <a:prstDash val="dash"/>
          </a:ln>
        </p:spPr>
      </p:sp>
      <p:sp>
        <p:nvSpPr>
          <p:cNvPr id="20" name="Text 18"/>
          <p:cNvSpPr txBox="1"/>
          <p:nvPr/>
        </p:nvSpPr>
        <p:spPr>
          <a:xfrm>
            <a:off x="4434840" y="4434840"/>
            <a:ext cx="3474720" cy="457200"/>
          </a:xfrm>
          <a:prstGeom prst="rect">
            <a:avLst/>
          </a:prstGeom>
          <a:noFill/>
          <a:ln/>
        </p:spPr>
        <p:txBody>
          <a:bodyPr wrap="square" lIns="0" tIns="0" rIns="0" bIns="0" rtlCol="0" anchor="t"/>
          <a:lstStyle/>
          <a:p>
            <a:pPr algn="ctr" indent="0" marL="0">
              <a:buNone/>
            </a:pPr>
            <a:r>
              <a:rPr lang="en-US" sz="1800" b="1" dirty="0">
                <a:solidFill>
                  <a:schemeClr val="accent5"/>
                </a:solidFill>
              </a:rPr>
              <a:t>[PLACEHOLDER]</a:t>
            </a:r>
            <a:endParaRPr lang="en-US" sz="1800" dirty="0"/>
          </a:p>
        </p:txBody>
      </p:sp>
      <p:sp>
        <p:nvSpPr>
          <p:cNvPr id="21" name="Text 19"/>
          <p:cNvSpPr txBox="1"/>
          <p:nvPr/>
        </p:nvSpPr>
        <p:spPr>
          <a:xfrm>
            <a:off x="4434840" y="4937760"/>
            <a:ext cx="3474720" cy="457200"/>
          </a:xfrm>
          <a:prstGeom prst="rect">
            <a:avLst/>
          </a:prstGeom>
          <a:noFill/>
          <a:ln/>
        </p:spPr>
        <p:txBody>
          <a:bodyPr wrap="square" lIns="0" tIns="0" rIns="0" bIns="0" rtlCol="0" anchor="t"/>
          <a:lstStyle/>
          <a:p>
            <a:pPr algn="ctr" indent="0" marL="0">
              <a:buNone/>
            </a:pPr>
            <a:r>
              <a:rPr lang="en-US" sz="1800" b="1" dirty="0">
                <a:solidFill>
                  <a:schemeClr val="tx1"/>
                </a:solidFill>
              </a:rPr>
              <a:t>Topic Finder output</a:t>
            </a:r>
            <a:endParaRPr lang="en-US" sz="1800" dirty="0"/>
          </a:p>
        </p:txBody>
      </p:sp>
      <p:sp>
        <p:nvSpPr>
          <p:cNvPr id="22" name="Text 20"/>
          <p:cNvSpPr txBox="1"/>
          <p:nvPr/>
        </p:nvSpPr>
        <p:spPr>
          <a:xfrm>
            <a:off x="4434840" y="5394960"/>
            <a:ext cx="3474720" cy="365760"/>
          </a:xfrm>
          <a:prstGeom prst="rect">
            <a:avLst/>
          </a:prstGeom>
          <a:noFill/>
          <a:ln/>
        </p:spPr>
        <p:txBody>
          <a:bodyPr wrap="square" lIns="0" tIns="0" rIns="0" bIns="0" rtlCol="0" anchor="t"/>
          <a:lstStyle/>
          <a:p>
            <a:pPr algn="ctr" indent="0" marL="0">
              <a:buNone/>
            </a:pPr>
            <a:r>
              <a:rPr lang="en-US" sz="1400" dirty="0">
                <a:solidFill>
                  <a:schemeClr val="accent6"/>
                </a:solidFill>
              </a:rPr>
              <a:t>Replace with your real screenshot</a:t>
            </a:r>
            <a:endParaRPr lang="en-US" sz="1400" dirty="0"/>
          </a:p>
        </p:txBody>
      </p:sp>
      <p:sp>
        <p:nvSpPr>
          <p:cNvPr id="23" name="Screenshot placeholder 6"/>
          <p:cNvSpPr/>
          <p:nvPr/>
        </p:nvSpPr>
        <p:spPr>
          <a:xfrm>
            <a:off x="8229600" y="3931920"/>
            <a:ext cx="3474720" cy="2148840"/>
          </a:xfrm>
          <a:prstGeom prst="roundRect">
            <a:avLst>
              <a:gd name="adj" fmla="val 5106"/>
            </a:avLst>
          </a:prstGeom>
          <a:solidFill>
            <a:schemeClr val="bg2"/>
          </a:solidFill>
          <a:ln w="19050">
            <a:solidFill>
              <a:schemeClr val="accent1"/>
            </a:solidFill>
            <a:prstDash val="dash"/>
          </a:ln>
        </p:spPr>
      </p:sp>
      <p:sp>
        <p:nvSpPr>
          <p:cNvPr id="24" name="Text 22"/>
          <p:cNvSpPr txBox="1"/>
          <p:nvPr/>
        </p:nvSpPr>
        <p:spPr>
          <a:xfrm>
            <a:off x="8229600" y="4434840"/>
            <a:ext cx="3474720" cy="457200"/>
          </a:xfrm>
          <a:prstGeom prst="rect">
            <a:avLst/>
          </a:prstGeom>
          <a:noFill/>
          <a:ln/>
        </p:spPr>
        <p:txBody>
          <a:bodyPr wrap="square" lIns="0" tIns="0" rIns="0" bIns="0" rtlCol="0" anchor="t"/>
          <a:lstStyle/>
          <a:p>
            <a:pPr algn="ctr" indent="0" marL="0">
              <a:buNone/>
            </a:pPr>
            <a:r>
              <a:rPr lang="en-US" sz="1800" b="1" dirty="0">
                <a:solidFill>
                  <a:schemeClr val="accent5"/>
                </a:solidFill>
              </a:rPr>
              <a:t>[PLACEHOLDER]</a:t>
            </a:r>
            <a:endParaRPr lang="en-US" sz="1800" dirty="0"/>
          </a:p>
        </p:txBody>
      </p:sp>
      <p:sp>
        <p:nvSpPr>
          <p:cNvPr id="25" name="Text 23"/>
          <p:cNvSpPr txBox="1"/>
          <p:nvPr/>
        </p:nvSpPr>
        <p:spPr>
          <a:xfrm>
            <a:off x="8229600" y="4937760"/>
            <a:ext cx="3474720" cy="457200"/>
          </a:xfrm>
          <a:prstGeom prst="rect">
            <a:avLst/>
          </a:prstGeom>
          <a:noFill/>
          <a:ln/>
        </p:spPr>
        <p:txBody>
          <a:bodyPr wrap="square" lIns="0" tIns="0" rIns="0" bIns="0" rtlCol="0" anchor="t"/>
          <a:lstStyle/>
          <a:p>
            <a:pPr algn="ctr" indent="0" marL="0">
              <a:buNone/>
            </a:pPr>
            <a:r>
              <a:rPr lang="en-US" sz="1800" b="1" dirty="0">
                <a:solidFill>
                  <a:schemeClr val="tx1"/>
                </a:solidFill>
              </a:rPr>
              <a:t>Model evaluation</a:t>
            </a:r>
            <a:endParaRPr lang="en-US" sz="1800" dirty="0"/>
          </a:p>
        </p:txBody>
      </p:sp>
      <p:sp>
        <p:nvSpPr>
          <p:cNvPr id="26" name="Text 24"/>
          <p:cNvSpPr txBox="1"/>
          <p:nvPr/>
        </p:nvSpPr>
        <p:spPr>
          <a:xfrm>
            <a:off x="8229600" y="5394960"/>
            <a:ext cx="3474720" cy="365760"/>
          </a:xfrm>
          <a:prstGeom prst="rect">
            <a:avLst/>
          </a:prstGeom>
          <a:noFill/>
          <a:ln/>
        </p:spPr>
        <p:txBody>
          <a:bodyPr wrap="square" lIns="0" tIns="0" rIns="0" bIns="0" rtlCol="0" anchor="t"/>
          <a:lstStyle/>
          <a:p>
            <a:pPr algn="ctr" indent="0" marL="0">
              <a:buNone/>
            </a:pPr>
            <a:r>
              <a:rPr lang="en-US" sz="1400" dirty="0">
                <a:solidFill>
                  <a:schemeClr val="accent6"/>
                </a:solidFill>
              </a:rPr>
              <a:t>Replace with your real screenshot</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640080" y="365760"/>
            <a:ext cx="10881360" cy="822960"/>
          </a:xfrm>
          <a:prstGeom prst="rect">
            <a:avLst/>
          </a:prstGeom>
          <a:noFill/>
          <a:ln/>
        </p:spPr>
        <p:txBody>
          <a:bodyPr wrap="square" lIns="0" tIns="0" rIns="0" bIns="0" rtlCol="0" anchor="ctr"/>
          <a:lstStyle/>
          <a:p>
            <a:pPr algn="l" indent="0" marL="0">
              <a:buNone/>
            </a:pPr>
            <a:r>
              <a:rPr lang="en-US" sz="3600" b="1" dirty="0">
                <a:solidFill>
                  <a:schemeClr val="bg1"/>
                </a:solidFill>
              </a:rPr>
              <a:t>Conclusion, Limitations and Future Scope</a:t>
            </a:r>
            <a:endParaRPr lang="en-US" sz="3600" dirty="0"/>
          </a:p>
        </p:txBody>
      </p:sp>
      <p:sp>
        <p:nvSpPr>
          <p:cNvPr id="3" name="Closing card 1"/>
          <p:cNvSpPr/>
          <p:nvPr/>
        </p:nvSpPr>
        <p:spPr>
          <a:xfrm>
            <a:off x="640080" y="1645920"/>
            <a:ext cx="3474720" cy="3931920"/>
          </a:xfrm>
          <a:prstGeom prst="roundRect">
            <a:avLst>
              <a:gd name="adj" fmla="val 3158"/>
            </a:avLst>
          </a:prstGeom>
          <a:solidFill>
            <a:schemeClr val="accent1"/>
          </a:solidFill>
          <a:ln w="6350">
            <a:solidFill>
              <a:schemeClr val="accent1"/>
            </a:solidFill>
            <a:prstDash val="solid"/>
          </a:ln>
        </p:spPr>
      </p:sp>
      <p:sp>
        <p:nvSpPr>
          <p:cNvPr id="4" name="Text 2"/>
          <p:cNvSpPr txBox="1"/>
          <p:nvPr/>
        </p:nvSpPr>
        <p:spPr>
          <a:xfrm>
            <a:off x="914400" y="1874520"/>
            <a:ext cx="2926080" cy="457200"/>
          </a:xfrm>
          <a:prstGeom prst="rect">
            <a:avLst/>
          </a:prstGeom>
          <a:noFill/>
          <a:ln/>
        </p:spPr>
        <p:txBody>
          <a:bodyPr wrap="square" lIns="0" tIns="0" rIns="0" bIns="0" rtlCol="0" anchor="t"/>
          <a:lstStyle/>
          <a:p>
            <a:pPr indent="0" marL="0">
              <a:buNone/>
            </a:pPr>
            <a:r>
              <a:rPr lang="en-US" sz="2400" b="1" dirty="0">
                <a:solidFill>
                  <a:schemeClr val="bg1"/>
                </a:solidFill>
              </a:rPr>
              <a:t>Conclusion</a:t>
            </a:r>
            <a:endParaRPr lang="en-US" sz="2400" dirty="0"/>
          </a:p>
        </p:txBody>
      </p:sp>
      <p:sp>
        <p:nvSpPr>
          <p:cNvPr id="5" name="Text 3"/>
          <p:cNvSpPr txBox="1"/>
          <p:nvPr/>
        </p:nvSpPr>
        <p:spPr>
          <a:xfrm>
            <a:off x="914400" y="2606040"/>
            <a:ext cx="3017520" cy="2743200"/>
          </a:xfrm>
          <a:prstGeom prst="rect">
            <a:avLst/>
          </a:prstGeom>
          <a:noFill/>
          <a:ln/>
        </p:spPr>
        <p:txBody>
          <a:bodyPr wrap="square" lIns="0" tIns="0" rIns="0" bIns="0" rtlCol="0" anchor="t"/>
          <a:lstStyle/>
          <a:p>
            <a:pPr marL="342900" indent="-342900">
              <a:spcAft>
                <a:spcPts val="600"/>
              </a:spcAft>
              <a:buSzPct val="100000"/>
              <a:buChar char="•"/>
            </a:pPr>
            <a:r>
              <a:rPr lang="en-US" sz="1800" dirty="0">
                <a:solidFill>
                  <a:schemeClr val="bg1"/>
                </a:solidFill>
              </a:rPr>
              <a:t>Working quiz app supporting SDG 4</a:t>
            </a:r>
            <a:endParaRPr lang="en-US" sz="1800" dirty="0"/>
          </a:p>
          <a:p>
            <a:pPr marL="342900" indent="-342900">
              <a:spcAft>
                <a:spcPts val="600"/>
              </a:spcAft>
              <a:buSzPct val="100000"/>
              <a:buChar char="•"/>
            </a:pPr>
            <a:r>
              <a:rPr lang="en-US" sz="1800" dirty="0">
                <a:solidFill>
                  <a:schemeClr val="bg1"/>
                </a:solidFill>
              </a:rPr>
              <a:t>Verified questions and real scoring</a:t>
            </a:r>
            <a:endParaRPr lang="en-US" sz="1800" dirty="0"/>
          </a:p>
          <a:p>
            <a:pPr marL="342900" indent="-342900">
              <a:spcAft>
                <a:spcPts val="600"/>
              </a:spcAft>
              <a:buSzPct val="100000"/>
              <a:buChar char="•"/>
            </a:pPr>
            <a:r>
              <a:rPr lang="en-US" sz="1800" dirty="0">
                <a:solidFill>
                  <a:schemeClr val="bg1"/>
                </a:solidFill>
              </a:rPr>
              <a:t>One honest, measured ML component</a:t>
            </a:r>
            <a:endParaRPr lang="en-US" sz="1800" dirty="0"/>
          </a:p>
        </p:txBody>
      </p:sp>
      <p:sp>
        <p:nvSpPr>
          <p:cNvPr id="6" name="Closing card 2"/>
          <p:cNvSpPr/>
          <p:nvPr/>
        </p:nvSpPr>
        <p:spPr>
          <a:xfrm>
            <a:off x="4434840" y="1645920"/>
            <a:ext cx="3474720" cy="3931920"/>
          </a:xfrm>
          <a:prstGeom prst="roundRect">
            <a:avLst>
              <a:gd name="adj" fmla="val 3158"/>
            </a:avLst>
          </a:prstGeom>
          <a:solidFill>
            <a:schemeClr val="accent1"/>
          </a:solidFill>
          <a:ln w="6350">
            <a:solidFill>
              <a:schemeClr val="accent1"/>
            </a:solidFill>
            <a:prstDash val="solid"/>
          </a:ln>
        </p:spPr>
      </p:sp>
      <p:sp>
        <p:nvSpPr>
          <p:cNvPr id="7" name="Text 5"/>
          <p:cNvSpPr txBox="1"/>
          <p:nvPr/>
        </p:nvSpPr>
        <p:spPr>
          <a:xfrm>
            <a:off x="4709160" y="1874520"/>
            <a:ext cx="2926080" cy="457200"/>
          </a:xfrm>
          <a:prstGeom prst="rect">
            <a:avLst/>
          </a:prstGeom>
          <a:noFill/>
          <a:ln/>
        </p:spPr>
        <p:txBody>
          <a:bodyPr wrap="square" lIns="0" tIns="0" rIns="0" bIns="0" rtlCol="0" anchor="t"/>
          <a:lstStyle/>
          <a:p>
            <a:pPr indent="0" marL="0">
              <a:buNone/>
            </a:pPr>
            <a:r>
              <a:rPr lang="en-US" sz="2400" b="1" dirty="0">
                <a:solidFill>
                  <a:schemeClr val="accent3"/>
                </a:solidFill>
              </a:rPr>
              <a:t>Limitations</a:t>
            </a:r>
            <a:endParaRPr lang="en-US" sz="2400" dirty="0"/>
          </a:p>
        </p:txBody>
      </p:sp>
      <p:sp>
        <p:nvSpPr>
          <p:cNvPr id="8" name="Text 6"/>
          <p:cNvSpPr txBox="1"/>
          <p:nvPr/>
        </p:nvSpPr>
        <p:spPr>
          <a:xfrm>
            <a:off x="4709160" y="2606040"/>
            <a:ext cx="3017520" cy="2743200"/>
          </a:xfrm>
          <a:prstGeom prst="rect">
            <a:avLst/>
          </a:prstGeom>
          <a:noFill/>
          <a:ln/>
        </p:spPr>
        <p:txBody>
          <a:bodyPr wrap="square" lIns="0" tIns="0" rIns="0" bIns="0" rtlCol="0" anchor="t"/>
          <a:lstStyle/>
          <a:p>
            <a:pPr marL="342900" indent="-342900">
              <a:spcAft>
                <a:spcPts val="600"/>
              </a:spcAft>
              <a:buSzPct val="100000"/>
              <a:buChar char="•"/>
            </a:pPr>
            <a:r>
              <a:rPr lang="en-US" sz="1800" dirty="0">
                <a:solidFill>
                  <a:schemeClr val="bg1"/>
                </a:solidFill>
              </a:rPr>
              <a:t>Small hand-made dataset</a:t>
            </a:r>
            <a:endParaRPr lang="en-US" sz="1800" dirty="0"/>
          </a:p>
          <a:p>
            <a:pPr marL="342900" indent="-342900">
              <a:spcAft>
                <a:spcPts val="600"/>
              </a:spcAft>
              <a:buSzPct val="100000"/>
              <a:buChar char="•"/>
            </a:pPr>
            <a:r>
              <a:rPr lang="en-US" sz="1800" dirty="0">
                <a:solidFill>
                  <a:schemeClr val="bg1"/>
                </a:solidFill>
              </a:rPr>
              <a:t>75 questions in the bank</a:t>
            </a:r>
            <a:endParaRPr lang="en-US" sz="1800" dirty="0"/>
          </a:p>
          <a:p>
            <a:pPr marL="342900" indent="-342900">
              <a:spcAft>
                <a:spcPts val="600"/>
              </a:spcAft>
              <a:buSzPct val="100000"/>
              <a:buChar char="•"/>
            </a:pPr>
            <a:r>
              <a:rPr lang="en-US" sz="1800" dirty="0">
                <a:solidFill>
                  <a:schemeClr val="bg1"/>
                </a:solidFill>
              </a:rPr>
              <a:t>History lasts one browser session</a:t>
            </a:r>
            <a:endParaRPr lang="en-US" sz="1800" dirty="0"/>
          </a:p>
        </p:txBody>
      </p:sp>
      <p:sp>
        <p:nvSpPr>
          <p:cNvPr id="9" name="Closing card 3"/>
          <p:cNvSpPr/>
          <p:nvPr/>
        </p:nvSpPr>
        <p:spPr>
          <a:xfrm>
            <a:off x="8229600" y="1645920"/>
            <a:ext cx="3474720" cy="3931920"/>
          </a:xfrm>
          <a:prstGeom prst="roundRect">
            <a:avLst>
              <a:gd name="adj" fmla="val 3158"/>
            </a:avLst>
          </a:prstGeom>
          <a:solidFill>
            <a:schemeClr val="accent1"/>
          </a:solidFill>
          <a:ln w="6350">
            <a:solidFill>
              <a:schemeClr val="accent1"/>
            </a:solidFill>
            <a:prstDash val="solid"/>
          </a:ln>
        </p:spPr>
      </p:sp>
      <p:sp>
        <p:nvSpPr>
          <p:cNvPr id="10" name="Text 8"/>
          <p:cNvSpPr txBox="1"/>
          <p:nvPr/>
        </p:nvSpPr>
        <p:spPr>
          <a:xfrm>
            <a:off x="8503920" y="1874520"/>
            <a:ext cx="2926080" cy="457200"/>
          </a:xfrm>
          <a:prstGeom prst="rect">
            <a:avLst/>
          </a:prstGeom>
          <a:noFill/>
          <a:ln/>
        </p:spPr>
        <p:txBody>
          <a:bodyPr wrap="square" lIns="0" tIns="0" rIns="0" bIns="0" rtlCol="0" anchor="t"/>
          <a:lstStyle/>
          <a:p>
            <a:pPr indent="0" marL="0">
              <a:buNone/>
            </a:pPr>
            <a:r>
              <a:rPr lang="en-US" sz="2400" b="1" dirty="0">
                <a:solidFill>
                  <a:schemeClr val="bg1"/>
                </a:solidFill>
              </a:rPr>
              <a:t>Future scope</a:t>
            </a:r>
            <a:endParaRPr lang="en-US" sz="2400" dirty="0"/>
          </a:p>
        </p:txBody>
      </p:sp>
      <p:sp>
        <p:nvSpPr>
          <p:cNvPr id="11" name="Text 9"/>
          <p:cNvSpPr txBox="1"/>
          <p:nvPr/>
        </p:nvSpPr>
        <p:spPr>
          <a:xfrm>
            <a:off x="8503920" y="2606040"/>
            <a:ext cx="3017520" cy="2743200"/>
          </a:xfrm>
          <a:prstGeom prst="rect">
            <a:avLst/>
          </a:prstGeom>
          <a:noFill/>
          <a:ln/>
        </p:spPr>
        <p:txBody>
          <a:bodyPr wrap="square" lIns="0" tIns="0" rIns="0" bIns="0" rtlCol="0" anchor="t"/>
          <a:lstStyle/>
          <a:p>
            <a:pPr marL="342900" indent="-342900">
              <a:spcAft>
                <a:spcPts val="600"/>
              </a:spcAft>
              <a:buSzPct val="100000"/>
              <a:buChar char="•"/>
            </a:pPr>
            <a:r>
              <a:rPr lang="en-US" sz="1800" dirty="0">
                <a:solidFill>
                  <a:schemeClr val="bg1"/>
                </a:solidFill>
              </a:rPr>
              <a:t>Larger bank and dataset</a:t>
            </a:r>
            <a:endParaRPr lang="en-US" sz="1800" dirty="0"/>
          </a:p>
          <a:p>
            <a:pPr marL="342900" indent="-342900">
              <a:spcAft>
                <a:spcPts val="600"/>
              </a:spcAft>
              <a:buSzPct val="100000"/>
              <a:buChar char="•"/>
            </a:pPr>
            <a:r>
              <a:rPr lang="en-US" sz="1800" dirty="0">
                <a:solidFill>
                  <a:schemeClr val="bg1"/>
                </a:solidFill>
              </a:rPr>
              <a:t>Accounts and saved progress</a:t>
            </a:r>
            <a:endParaRPr lang="en-US" sz="1800" dirty="0"/>
          </a:p>
          <a:p>
            <a:pPr marL="342900" indent="-342900">
              <a:spcAft>
                <a:spcPts val="600"/>
              </a:spcAft>
              <a:buSzPct val="100000"/>
              <a:buChar char="•"/>
            </a:pPr>
            <a:r>
              <a:rPr lang="en-US" sz="1800" dirty="0">
                <a:solidFill>
                  <a:schemeClr val="bg1"/>
                </a:solidFill>
              </a:rPr>
              <a:t>Spaced repetition, more topics</a:t>
            </a:r>
            <a:endParaRPr lang="en-US" sz="1800" dirty="0"/>
          </a:p>
        </p:txBody>
      </p:sp>
      <p:sp>
        <p:nvSpPr>
          <p:cNvPr id="12" name="Text 10"/>
          <p:cNvSpPr txBox="1"/>
          <p:nvPr/>
        </p:nvSpPr>
        <p:spPr>
          <a:xfrm>
            <a:off x="640080" y="5852160"/>
            <a:ext cx="10881360" cy="457200"/>
          </a:xfrm>
          <a:prstGeom prst="rect">
            <a:avLst/>
          </a:prstGeom>
          <a:noFill/>
          <a:ln/>
        </p:spPr>
        <p:txBody>
          <a:bodyPr wrap="square" lIns="0" tIns="0" rIns="0" bIns="0" rtlCol="0" anchor="t"/>
          <a:lstStyle/>
          <a:p>
            <a:pPr indent="0" marL="0">
              <a:buNone/>
            </a:pPr>
            <a:r>
              <a:rPr lang="en-US" sz="2000" i="1" dirty="0">
                <a:solidFill>
                  <a:schemeClr val="bg2"/>
                </a:solidFill>
              </a:rPr>
              <a:t>Thank you. Questions?</a:t>
            </a:r>
            <a:endParaRPr lang="en-US" sz="20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bg2"/>
                </a:solidFill>
              </a:defRPr>
            </a:lvl1pPr>
          </a:lstStyle>
          <a:p>
            <a:pPr algn="l"/>
            <a:fld id="{F7021451-1387-4CA6-816F-3879F97B5CBC}" type="slidenum">
              <a:rPr b="0" lang="en-US"/>
              <a:t>12</a:t>
            </a:fld>
            <a:endParaRPr lang="en-US"/>
          </a:p>
        </p:txBody>
      </p:sp>
    </p:spTree>
  </p:cSld>
  <p:clrMapOvr>
    <a:masterClrMapping/>
  </p:clrMapOvr>
</p:sld>
</file>

<file path=ppt/theme/theme1.xml><?xml version="1.0" encoding="utf-8"?>
<a:theme xmlns:a="http://schemas.openxmlformats.org/drawingml/2006/main" name="QuizLearn">
  <a:themeElements>
    <a:clrScheme name="QuizLearn">
      <a:dk1>
        <a:srgbClr val="1E1B4B"/>
      </a:dk1>
      <a:lt1>
        <a:srgbClr val="FFFFFF"/>
      </a:lt1>
      <a:dk2>
        <a:srgbClr val="4F46E5"/>
      </a:dk2>
      <a:lt2>
        <a:srgbClr val="EEF0FB"/>
      </a:lt2>
      <a:accent1>
        <a:srgbClr val="4F46E5"/>
      </a:accent1>
      <a:accent2>
        <a:srgbClr val="14B8A6"/>
      </a:accent2>
      <a:accent3>
        <a:srgbClr val="F59E0B"/>
      </a:accent3>
      <a:accent4>
        <a:srgbClr val="7C3AED"/>
      </a:accent4>
      <a:accent5>
        <a:srgbClr val="DC2626"/>
      </a:accent5>
      <a:accent6>
        <a:srgbClr val="5B6478"/>
      </a:accent6>
      <a:hlink>
        <a:srgbClr val="4F46E5"/>
      </a:hlink>
      <a:folHlink>
        <a:srgbClr val="7C3AED"/>
      </a:folHlink>
    </a:clrScheme>
    <a:fontScheme name="QuizLearn">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AI-Powered Quiz Generator and Personalized Learning Assistant</dc:title>
  <dc:subject>PptxGenJS Presentation</dc:subject>
  <dc:creator>PptxGenJS</dc:creator>
  <cp:lastModifiedBy>PptxGenJS</cp:lastModifiedBy>
  <cp:revision>1</cp:revision>
  <dcterms:created xsi:type="dcterms:W3CDTF">2026-10-10T13:29:30Z</dcterms:created>
  <dcterms:modified xsi:type="dcterms:W3CDTF">2026-10-10T13:29:30Z</dcterms:modified>
</cp:coreProperties>
</file>